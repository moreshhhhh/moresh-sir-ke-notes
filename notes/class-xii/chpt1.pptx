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9FCD9-B020-43D2-9011-F59BC7BB52B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926F0-F681-4CD0-957C-7ABD5A3E8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9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926F0-F681-4CD0-957C-7ABD5A3E82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FE33-055E-44F8-E548-4B3DA8342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F1D15-D6E2-0CAE-E77A-C6FDEDBCF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DB55-70D8-4C8F-5B08-2EC4A24B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3849-DFCA-39B1-A14B-C6C4DD6A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64A3A-1257-10DF-6D5B-A4CFAB8E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FF9C-076A-DC24-630D-2CBE4807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F73A0-F5CF-425C-7AF1-9446AD3FC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3A0D8-FEE9-B72E-10B7-F8AACB98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8BE8C-E635-2AF2-CF5C-7912EEDB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4982-61F0-3595-5B41-548A06D5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7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0CEB-F598-354C-FF4D-D18A2DD8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D74B9-0BF2-7FCC-B582-8096BE6E6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8184D-B88B-F00F-1F0A-53B4772E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76DC-9147-2E68-C67E-F678938D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7FB67-875E-5F52-82A3-5FE0AB86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6AA4-4454-E95F-0B15-796B6013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B839D-0703-A2E8-1690-6C4676C58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942A-03CA-00D1-18E6-63E30B4C7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F8653-83EA-03D5-3AE7-819FB2BF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63F4D-7597-2D2C-BDD5-3327BA3F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39930-750F-960A-00A3-98181644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22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4C30-A47F-E872-C88B-BB6C40C2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418EB-1943-9FD2-3C34-1E63B810C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D356A-7505-8E88-B20E-AC62788CB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6F690-2188-C715-47C9-23074321D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EB7CB-7F21-E13F-AFA5-466E9EE1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3AC3F-683A-724A-4C2A-E722FBF4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95E05-A414-77B6-5C95-256D7070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C02BA-6A40-7F07-9072-6ABAC4A0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3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F9A6-64C2-8D3B-7979-DBEF1698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86C6A-74DB-6D08-2012-22C31302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85E19-3731-89C2-594A-2C70A2D1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95DA4-F306-C5A7-EEA3-93CFB886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8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97D7F-1FB2-2FF3-3B98-6BAF69F1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AEB63-D874-674A-1572-F93AEFA1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9BD75-0358-AD93-00CF-181A5C44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5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85A1-FA0B-2548-DCC1-FFC4585E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22D2C-C1D2-0995-EEDB-E9DCC1A24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74029-3063-662C-7A3E-653B7CB6B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748D8-2B94-9ED9-56FC-8B35BC19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9CF0-7D07-BBBD-E32E-5E8E7FA3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93537-0556-9284-2E3F-9A8AE308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01E7-78F0-E6A1-49AF-0C42F1A9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C18D5-0C5F-2527-BD3E-FDC5EEACA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7E10E-A63B-6100-7A63-CE8CB8BAD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398E6-9C9A-781D-1A1E-CC752B57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7B9FE-6233-33EA-6DA7-FD635029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98652-D291-74B0-A94C-2EB54FF4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63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AB57-43C9-4256-8AFA-C5DA1169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4A89A-F6EC-06BE-83D9-CD0E874E7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2994D-C14D-5BFF-4080-AD01186A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78CCA-F701-5037-EACF-13B44EE9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D35F-7358-655C-344B-1BCBE09A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7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2A69E-3B73-F8F8-3166-D387166D4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FF3A9-ED9F-CE7F-A27D-01A62DEC6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4FF5A-C48A-D1F5-AD4D-EC1A2BBD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E0125-F477-E0CF-FCDB-56032ABD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E439B-FDF0-DE7C-FB73-A261B21A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0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39DA2-09CC-9E6F-56BC-0DFCC150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BD34F-77C7-E18E-5F11-EF6CC7D10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1BADC-11DC-0EC9-499A-2E60FE1E2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0751A-1DE4-47B3-BBF4-36474058EEC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8656D-6213-8974-6F24-F4E0A4337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F3CF4-AA81-658D-1BFC-B13BBAA96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B1BE5-7C45-4460-9A00-C78266C60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1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3B39-7A24-EA88-FC84-C9AAFF56D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Audio &amp; 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9B9F1-A11D-B64D-27AA-A87EE3420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6369051"/>
            <a:ext cx="9144000" cy="421322"/>
          </a:xfrm>
        </p:spPr>
        <p:txBody>
          <a:bodyPr/>
          <a:lstStyle/>
          <a:p>
            <a:r>
              <a:rPr lang="en-US" dirty="0"/>
              <a:t>MORESH LONDE</a:t>
            </a:r>
          </a:p>
        </p:txBody>
      </p:sp>
    </p:spTree>
    <p:extLst>
      <p:ext uri="{BB962C8B-B14F-4D97-AF65-F5344CB8AC3E}">
        <p14:creationId xmlns:p14="http://schemas.microsoft.com/office/powerpoint/2010/main" val="56492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3DCB-F36D-6726-5B47-B6FFB5F4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5821EE-E3EB-FCC6-027D-5D3DDA4463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13679"/>
              </p:ext>
            </p:extLst>
          </p:nvPr>
        </p:nvGraphicFramePr>
        <p:xfrm>
          <a:off x="838200" y="1657504"/>
          <a:ext cx="10515600" cy="1463040"/>
        </p:xfrm>
        <a:graphic>
          <a:graphicData uri="http://schemas.openxmlformats.org/drawingml/2006/table">
            <a:tbl>
              <a:tblPr/>
              <a:tblGrid>
                <a:gridCol w="3382108">
                  <a:extLst>
                    <a:ext uri="{9D8B030D-6E8A-4147-A177-3AD203B41FA5}">
                      <a16:colId xmlns:a16="http://schemas.microsoft.com/office/drawing/2014/main" val="2219826602"/>
                    </a:ext>
                  </a:extLst>
                </a:gridCol>
                <a:gridCol w="3628292">
                  <a:extLst>
                    <a:ext uri="{9D8B030D-6E8A-4147-A177-3AD203B41FA5}">
                      <a16:colId xmlns:a16="http://schemas.microsoft.com/office/drawing/2014/main" val="7718592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41838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Full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0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MPEG Audio Layer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Songs, 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88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 Audio 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YouTube, iPhone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215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OGG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Open Source Audio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Firefox, Open Source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0094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6EE10A-0D5C-F915-A797-B0F90F282809}"/>
              </a:ext>
            </a:extLst>
          </p:cNvPr>
          <p:cNvSpPr txBox="1"/>
          <p:nvPr/>
        </p:nvSpPr>
        <p:spPr>
          <a:xfrm>
            <a:off x="838200" y="358505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Life Example</a:t>
            </a:r>
            <a:endParaRPr lang="en-US" dirty="0"/>
          </a:p>
          <a:p>
            <a:pPr>
              <a:buNone/>
            </a:pPr>
            <a:r>
              <a:rPr lang="en-US" dirty="0"/>
              <a:t> Spotify songs → MP3/AAC</a:t>
            </a:r>
          </a:p>
          <a:p>
            <a:pPr>
              <a:buNone/>
            </a:pPr>
            <a:r>
              <a:rPr lang="en-US" dirty="0"/>
              <a:t> YouTube audio → AAC</a:t>
            </a:r>
          </a:p>
        </p:txBody>
      </p:sp>
    </p:spTree>
    <p:extLst>
      <p:ext uri="{BB962C8B-B14F-4D97-AF65-F5344CB8AC3E}">
        <p14:creationId xmlns:p14="http://schemas.microsoft.com/office/powerpoint/2010/main" val="113767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CA9D70-9BB0-AF80-2712-645FAE5336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490585"/>
              </p:ext>
            </p:extLst>
          </p:nvPr>
        </p:nvGraphicFramePr>
        <p:xfrm>
          <a:off x="838200" y="582845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722169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915643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38407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23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play, pause and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controls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86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autoplay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Starts automatically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autoplay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2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Repeats forever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loop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231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Starts without sound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muted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337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Audio file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song.mp3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7839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2D5A9B-3B21-05A7-1E83-E7AA40ACEE46}"/>
              </a:ext>
            </a:extLst>
          </p:cNvPr>
          <p:cNvSpPr txBox="1"/>
          <p:nvPr/>
        </p:nvSpPr>
        <p:spPr>
          <a:xfrm>
            <a:off x="715108" y="361893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&lt;audio controls&gt;</a:t>
            </a:r>
          </a:p>
          <a:p>
            <a:r>
              <a:rPr lang="en-US" dirty="0"/>
              <a:t>   &lt;source </a:t>
            </a:r>
            <a:r>
              <a:rPr lang="en-US" dirty="0" err="1"/>
              <a:t>src</a:t>
            </a:r>
            <a:r>
              <a:rPr lang="en-US" dirty="0"/>
              <a:t>="song.mp3" type="audio/mp3"&gt;</a:t>
            </a:r>
          </a:p>
          <a:p>
            <a:r>
              <a:rPr lang="en-US" dirty="0"/>
              <a:t>&lt;/audio&gt;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95E9D1-1C63-6300-5684-7ED73C3F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378" y="3699543"/>
            <a:ext cx="3010320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6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F85A-A6AF-795D-4EB2-EABA86F2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1416CD-64FD-E5F2-2EED-69D87369CC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176669"/>
              </p:ext>
            </p:extLst>
          </p:nvPr>
        </p:nvGraphicFramePr>
        <p:xfrm>
          <a:off x="838200" y="1937576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430313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60140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84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websites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725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Chrome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50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OGG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Firefox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88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91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A54F64-99F9-C486-D2F3-91CA3946FAC1}"/>
              </a:ext>
            </a:extLst>
          </p:cNvPr>
          <p:cNvSpPr txBox="1"/>
          <p:nvPr/>
        </p:nvSpPr>
        <p:spPr>
          <a:xfrm>
            <a:off x="350520" y="433930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&lt;video controls&gt;</a:t>
            </a:r>
          </a:p>
          <a:p>
            <a:endParaRPr lang="en-US" dirty="0"/>
          </a:p>
          <a:p>
            <a:r>
              <a:rPr lang="en-US" dirty="0"/>
              <a:t>&lt;source </a:t>
            </a:r>
            <a:r>
              <a:rPr lang="en-US" dirty="0" err="1"/>
              <a:t>src</a:t>
            </a:r>
            <a:r>
              <a:rPr lang="en-US" dirty="0"/>
              <a:t>="movie.mp4" type="video/mp4"&gt;</a:t>
            </a:r>
          </a:p>
          <a:p>
            <a:endParaRPr lang="en-US" dirty="0"/>
          </a:p>
          <a:p>
            <a:r>
              <a:rPr lang="en-US" dirty="0"/>
              <a:t>&lt;/video&gt;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FDC5BD-F62D-6E70-AE6B-373702967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994566"/>
              </p:ext>
            </p:extLst>
          </p:nvPr>
        </p:nvGraphicFramePr>
        <p:xfrm>
          <a:off x="838200" y="36655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44009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6402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103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video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85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autoplay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Starts automatically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40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Video 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162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Video 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94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Plays repeatedly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420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sound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68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thumbnail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17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Loads video before playing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07856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2322BC1-48C5-98DF-4A3F-875FD5F85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766" y="4066109"/>
            <a:ext cx="395342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5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C43A-3C5C-57C7-3F2D-0C1D7477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Map in HTML5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E9CF-7F26-5244-28F1-87D8574F6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Image Map</a:t>
            </a:r>
            <a:r>
              <a:rPr lang="en-US" dirty="0"/>
              <a:t> is a </a:t>
            </a:r>
            <a:r>
              <a:rPr lang="en-US" b="1" dirty="0"/>
              <a:t>single image that contains multiple clickable areas (hotspots)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Types of Image Maps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541EA2-E404-7F5C-F50C-072C0E59B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357317"/>
              </p:ext>
            </p:extLst>
          </p:nvPr>
        </p:nvGraphicFramePr>
        <p:xfrm>
          <a:off x="838200" y="3358540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137207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64441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83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Client-Side Image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Processed by the browser (Most Common)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11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Server-Side Image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Processed by the web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4342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A1FF1F-6AB5-8885-3686-2C6D0AE3B1D1}"/>
              </a:ext>
            </a:extLst>
          </p:cNvPr>
          <p:cNvSpPr txBox="1"/>
          <p:nvPr/>
        </p:nvSpPr>
        <p:spPr>
          <a:xfrm>
            <a:off x="3417570" y="5256116"/>
            <a:ext cx="696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 HTML5, we mostly use Client-Side Image Maps.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79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F7F8-EFB9-843E-7E3F-03FBA715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 Used in Image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7914-5170-F58F-20F8-6DA89B08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Tags Used in Image Map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53C2F1-1671-51A6-D9CB-E3A3CEE65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58902"/>
              </p:ext>
            </p:extLst>
          </p:nvPr>
        </p:nvGraphicFramePr>
        <p:xfrm>
          <a:off x="986790" y="241252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974575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42130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110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&lt;img&gt;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Displays the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525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&lt;map&gt;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the image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151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&lt;area&gt;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clickable regions (Hotspots)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468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779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6B4F64C-A170-48DC-C445-9FF6554FF6EF}"/>
              </a:ext>
            </a:extLst>
          </p:cNvPr>
          <p:cNvSpPr/>
          <p:nvPr/>
        </p:nvSpPr>
        <p:spPr>
          <a:xfrm>
            <a:off x="5935980" y="434340"/>
            <a:ext cx="4133850" cy="10972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205CF4-D8F2-7D2A-9F14-481B03C698AD}"/>
              </a:ext>
            </a:extLst>
          </p:cNvPr>
          <p:cNvSpPr txBox="1"/>
          <p:nvPr/>
        </p:nvSpPr>
        <p:spPr>
          <a:xfrm>
            <a:off x="158116" y="23895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 Tag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107AB-89F9-7A1E-41C4-D978C78B4093}"/>
              </a:ext>
            </a:extLst>
          </p:cNvPr>
          <p:cNvSpPr txBox="1"/>
          <p:nvPr/>
        </p:nvSpPr>
        <p:spPr>
          <a:xfrm>
            <a:off x="1391603" y="672405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="campus.jpg"</a:t>
            </a:r>
          </a:p>
          <a:p>
            <a:r>
              <a:rPr lang="en-US" dirty="0"/>
              <a:t>     </a:t>
            </a:r>
            <a:r>
              <a:rPr lang="en-US" dirty="0" err="1"/>
              <a:t>usemap</a:t>
            </a:r>
            <a:r>
              <a:rPr lang="en-US" dirty="0"/>
              <a:t>="#</a:t>
            </a:r>
            <a:r>
              <a:rPr lang="en-US" dirty="0" err="1"/>
              <a:t>campusmap</a:t>
            </a:r>
            <a:r>
              <a:rPr lang="en-US" dirty="0"/>
              <a:t>"</a:t>
            </a:r>
          </a:p>
          <a:p>
            <a:r>
              <a:rPr lang="en-US" dirty="0"/>
              <a:t>     alt="School Campus"&gt;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FB7D2A-7FB3-063A-CB05-B602182B8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296808"/>
              </p:ext>
            </p:extLst>
          </p:nvPr>
        </p:nvGraphicFramePr>
        <p:xfrm>
          <a:off x="838200" y="165985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504962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64787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82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785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usemap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Connects image with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822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Alternative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0348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29FA8F5-B9D0-3EF2-AD3D-46FD911D509F}"/>
              </a:ext>
            </a:extLst>
          </p:cNvPr>
          <p:cNvSpPr txBox="1"/>
          <p:nvPr/>
        </p:nvSpPr>
        <p:spPr>
          <a:xfrm>
            <a:off x="5935980" y="532745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Important</a:t>
            </a:r>
          </a:p>
          <a:p>
            <a:pPr>
              <a:buNone/>
            </a:pPr>
            <a:r>
              <a:rPr lang="en-US" dirty="0"/>
              <a:t>The value of </a:t>
            </a:r>
            <a:r>
              <a:rPr lang="en-US" b="1" dirty="0" err="1"/>
              <a:t>usemap</a:t>
            </a:r>
            <a:r>
              <a:rPr lang="en-US" dirty="0"/>
              <a:t> always starts with </a:t>
            </a:r>
            <a:r>
              <a:rPr lang="en-US" b="1" dirty="0"/>
              <a:t>#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BE5E9-7C0D-CDF8-6DAC-3ED301DE0695}"/>
              </a:ext>
            </a:extLst>
          </p:cNvPr>
          <p:cNvSpPr txBox="1"/>
          <p:nvPr/>
        </p:nvSpPr>
        <p:spPr>
          <a:xfrm>
            <a:off x="158116" y="430125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&lt;map&gt;</a:t>
            </a:r>
            <a:r>
              <a:rPr lang="en-US" dirty="0"/>
              <a:t> tag stores all clickable regions.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0AC13-EE69-D1F1-5D3E-1C686BB99E22}"/>
              </a:ext>
            </a:extLst>
          </p:cNvPr>
          <p:cNvSpPr txBox="1"/>
          <p:nvPr/>
        </p:nvSpPr>
        <p:spPr>
          <a:xfrm>
            <a:off x="158116" y="391513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&lt;map&gt;</a:t>
            </a:r>
            <a:r>
              <a:rPr lang="en-US" dirty="0"/>
              <a:t> Tag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EFA2D0-8A84-6126-A9B3-E5F2DBD157EA}"/>
              </a:ext>
            </a:extLst>
          </p:cNvPr>
          <p:cNvSpPr txBox="1"/>
          <p:nvPr/>
        </p:nvSpPr>
        <p:spPr>
          <a:xfrm>
            <a:off x="1048703" y="4902577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&lt;map name="</a:t>
            </a:r>
            <a:r>
              <a:rPr lang="en-US" dirty="0" err="1"/>
              <a:t>campusmap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&lt;/map&gt;</a:t>
            </a:r>
          </a:p>
        </p:txBody>
      </p:sp>
    </p:spTree>
    <p:extLst>
      <p:ext uri="{BB962C8B-B14F-4D97-AF65-F5344CB8AC3E}">
        <p14:creationId xmlns:p14="http://schemas.microsoft.com/office/powerpoint/2010/main" val="346812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0F46CB-CE6F-D82A-C7B4-42E0ACDCF1CA}"/>
              </a:ext>
            </a:extLst>
          </p:cNvPr>
          <p:cNvSpPr txBox="1"/>
          <p:nvPr/>
        </p:nvSpPr>
        <p:spPr>
          <a:xfrm>
            <a:off x="248603" y="2382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&lt;area&gt;</a:t>
            </a:r>
            <a:r>
              <a:rPr lang="en-US" dirty="0"/>
              <a:t> Tag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3E046-D8F2-7C7C-8FA1-D55F167E8677}"/>
              </a:ext>
            </a:extLst>
          </p:cNvPr>
          <p:cNvSpPr txBox="1"/>
          <p:nvPr/>
        </p:nvSpPr>
        <p:spPr>
          <a:xfrm>
            <a:off x="248603" y="607576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&lt;area&gt;</a:t>
            </a:r>
            <a:r>
              <a:rPr lang="en-US" dirty="0"/>
              <a:t> tag </a:t>
            </a:r>
            <a:r>
              <a:rPr lang="en-US" b="1" i="1" u="sng" dirty="0"/>
              <a:t>creates clickable hotspots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C8391-75EC-D78E-6F0E-DBDE4971709C}"/>
              </a:ext>
            </a:extLst>
          </p:cNvPr>
          <p:cNvSpPr txBox="1"/>
          <p:nvPr/>
        </p:nvSpPr>
        <p:spPr>
          <a:xfrm>
            <a:off x="351473" y="1096209"/>
            <a:ext cx="6097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&lt;area</a:t>
            </a:r>
          </a:p>
          <a:p>
            <a:r>
              <a:rPr lang="en-US" dirty="0"/>
              <a:t>	shape="</a:t>
            </a:r>
            <a:r>
              <a:rPr lang="en-US" dirty="0" err="1"/>
              <a:t>rect</a:t>
            </a:r>
            <a:r>
              <a:rPr lang="en-US" dirty="0"/>
              <a:t>"</a:t>
            </a:r>
          </a:p>
          <a:p>
            <a:r>
              <a:rPr lang="en-US" dirty="0"/>
              <a:t>	coords="20,30,120,100"</a:t>
            </a:r>
          </a:p>
          <a:p>
            <a:r>
              <a:rPr lang="en-US" dirty="0"/>
              <a:t>	</a:t>
            </a:r>
            <a:r>
              <a:rPr lang="en-US" dirty="0" err="1"/>
              <a:t>href</a:t>
            </a:r>
            <a:r>
              <a:rPr lang="en-US" dirty="0"/>
              <a:t>="library.html"</a:t>
            </a:r>
          </a:p>
          <a:p>
            <a:r>
              <a:rPr lang="en-US" dirty="0"/>
              <a:t>	alt="Library"&gt;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A0E9C2-A06E-BD90-142A-2357313CE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860778"/>
              </p:ext>
            </p:extLst>
          </p:nvPr>
        </p:nvGraphicFramePr>
        <p:xfrm>
          <a:off x="838200" y="315547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544962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94487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05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Shape of hotspot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40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Coordinates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18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href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58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558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75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09C02C-1F3E-A07A-959F-075D0B987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991538"/>
              </p:ext>
            </p:extLst>
          </p:nvPr>
        </p:nvGraphicFramePr>
        <p:xfrm>
          <a:off x="838200" y="1006634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9121367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763048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97903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952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Coordinates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97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rect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x1, y1, x2, y2</a:t>
                      </a:r>
                      <a:r>
                        <a:rPr lang="en-US"/>
                        <a:t> (Top-left and Bottom-right corners)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coords="20,30,180,120"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7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circle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Circle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centerX, centerY, radius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coords="150,100,50"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70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poly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Polygon (Irregular Shape)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x,y</a:t>
                      </a:r>
                      <a:r>
                        <a:rPr lang="en-US"/>
                        <a:t> coordinate pairs (at least 3 points)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coords="30,50,90,20,120,90,60,140"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6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default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Entire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coordinates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shape="default"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98989"/>
                  </a:ext>
                </a:extLst>
              </a:tr>
            </a:tbl>
          </a:graphicData>
        </a:graphic>
      </p:graphicFrame>
      <p:pic>
        <p:nvPicPr>
          <p:cNvPr id="4" name="Picture 3" descr="HTML Image Maps - GeeksforGeeks">
            <a:extLst>
              <a:ext uri="{FF2B5EF4-FFF2-40B4-BE49-F238E27FC236}">
                <a16:creationId xmlns:a16="http://schemas.microsoft.com/office/drawing/2014/main" id="{473BA3EB-1004-36EC-F334-5B655887B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60" y="4301331"/>
            <a:ext cx="5638800" cy="224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2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magemap">
            <a:extLst>
              <a:ext uri="{FF2B5EF4-FFF2-40B4-BE49-F238E27FC236}">
                <a16:creationId xmlns:a16="http://schemas.microsoft.com/office/drawing/2014/main" id="{C1F60E0A-8A2D-2DF8-2F53-60BFB584C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8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B61790-0518-00AE-54C7-6EA11ADC8211}"/>
              </a:ext>
            </a:extLst>
          </p:cNvPr>
          <p:cNvSpPr txBox="1"/>
          <p:nvPr/>
        </p:nvSpPr>
        <p:spPr>
          <a:xfrm>
            <a:off x="3162300" y="5270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Inline Frame (</a:t>
            </a:r>
            <a:r>
              <a:rPr lang="en-US" dirty="0">
                <a:latin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</a:rPr>
              <a:t>iframe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) in HTML5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E1E16-7887-0FC7-D4C0-2FEF132F6BAD}"/>
              </a:ext>
            </a:extLst>
          </p:cNvPr>
          <p:cNvSpPr txBox="1"/>
          <p:nvPr/>
        </p:nvSpPr>
        <p:spPr>
          <a:xfrm>
            <a:off x="317183" y="119836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Embedding One Webpage Inside Another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5A3A7-8076-CDEC-64CF-74A06B6E1ED8}"/>
              </a:ext>
            </a:extLst>
          </p:cNvPr>
          <p:cNvSpPr txBox="1"/>
          <p:nvPr/>
        </p:nvSpPr>
        <p:spPr>
          <a:xfrm>
            <a:off x="204311" y="1685020"/>
            <a:ext cx="1178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Inline Frame (</a:t>
            </a:r>
            <a:r>
              <a:rPr lang="en-US" b="1" dirty="0">
                <a:latin typeface="Courier New" panose="02070309020205020404" pitchFamily="49" charset="0"/>
              </a:rPr>
              <a:t>&lt;</a:t>
            </a:r>
            <a:r>
              <a:rPr lang="en-US" b="1" dirty="0" err="1">
                <a:latin typeface="Courier New" panose="02070309020205020404" pitchFamily="49" charset="0"/>
              </a:rPr>
              <a:t>iframe</a:t>
            </a:r>
            <a:r>
              <a:rPr lang="en-US" b="1" dirty="0">
                <a:latin typeface="Courier New" panose="02070309020205020404" pitchFamily="49" charset="0"/>
              </a:rPr>
              <a:t>&gt;</a:t>
            </a:r>
            <a:r>
              <a:rPr lang="en-US" b="1" dirty="0"/>
              <a:t>)</a:t>
            </a:r>
            <a:r>
              <a:rPr lang="en-US" dirty="0"/>
              <a:t> is used to </a:t>
            </a:r>
            <a:r>
              <a:rPr lang="en-US" b="1" dirty="0"/>
              <a:t>display another webpage, video, map, or document inside the current webpage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A2B10-13FA-93D7-172C-D3B8D65D1A60}"/>
              </a:ext>
            </a:extLst>
          </p:cNvPr>
          <p:cNvSpPr txBox="1"/>
          <p:nvPr/>
        </p:nvSpPr>
        <p:spPr>
          <a:xfrm>
            <a:off x="1540193" y="284299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="URL"&gt;&lt;/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6FDC4-078F-5B47-A909-CA87FCB41DF0}"/>
              </a:ext>
            </a:extLst>
          </p:cNvPr>
          <p:cNvSpPr txBox="1"/>
          <p:nvPr/>
        </p:nvSpPr>
        <p:spPr>
          <a:xfrm>
            <a:off x="152401" y="2397335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Basic Syntax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9E36B-D35E-E1F9-D869-A2A8D9233FA2}"/>
              </a:ext>
            </a:extLst>
          </p:cNvPr>
          <p:cNvSpPr txBox="1"/>
          <p:nvPr/>
        </p:nvSpPr>
        <p:spPr>
          <a:xfrm>
            <a:off x="152401" y="3429000"/>
            <a:ext cx="6097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iframe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src</a:t>
            </a:r>
            <a:r>
              <a:rPr lang="en-US" dirty="0"/>
              <a:t>="https://www.wikipedia.org"</a:t>
            </a:r>
          </a:p>
          <a:p>
            <a:r>
              <a:rPr lang="en-US" dirty="0"/>
              <a:t>    width="600"</a:t>
            </a:r>
          </a:p>
          <a:p>
            <a:r>
              <a:rPr lang="en-US" dirty="0"/>
              <a:t>    height="400"&gt;</a:t>
            </a:r>
          </a:p>
          <a:p>
            <a:r>
              <a:rPr lang="en-US" dirty="0"/>
              <a:t>&lt;/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6588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A26E8-EFAA-CBC8-0FA0-40D16B03F53E}"/>
              </a:ext>
            </a:extLst>
          </p:cNvPr>
          <p:cNvSpPr txBox="1"/>
          <p:nvPr/>
        </p:nvSpPr>
        <p:spPr>
          <a:xfrm>
            <a:off x="328613" y="685443"/>
            <a:ext cx="60979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 &lt;title&gt;</a:t>
            </a:r>
            <a:r>
              <a:rPr lang="en-US" dirty="0" err="1"/>
              <a:t>Iframe</a:t>
            </a:r>
            <a:r>
              <a:rPr lang="en-US" dirty="0"/>
              <a:t> Example&lt;/title&gt;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&lt;h2&gt;Welcome to My Website&lt;/h2&gt;</a:t>
            </a:r>
          </a:p>
          <a:p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iframe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src</a:t>
            </a:r>
            <a:r>
              <a:rPr lang="en-US" dirty="0"/>
              <a:t>=“imagemap.html"</a:t>
            </a:r>
          </a:p>
          <a:p>
            <a:r>
              <a:rPr lang="en-US" dirty="0"/>
              <a:t>    width="600"</a:t>
            </a:r>
          </a:p>
          <a:p>
            <a:r>
              <a:rPr lang="en-US" dirty="0"/>
              <a:t>    height="350"&gt;</a:t>
            </a:r>
          </a:p>
          <a:p>
            <a:r>
              <a:rPr lang="en-US" dirty="0"/>
              <a:t>&lt;/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F6981-8F77-3207-9655-7BAEA979A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911" y="825405"/>
            <a:ext cx="5082634" cy="416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391A-E532-2FFD-3A9B-1BE93476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5A884-112F-4302-6A3A-BF0F32FD4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Website Hosting</a:t>
            </a:r>
            <a:r>
              <a:rPr lang="en-US" dirty="0"/>
              <a:t> is a service that provides storage space on a web server so that a website can be accessed through the Internet.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BA18F-5138-CAAE-A23D-7BFDC860AD28}"/>
              </a:ext>
            </a:extLst>
          </p:cNvPr>
          <p:cNvSpPr txBox="1"/>
          <p:nvPr/>
        </p:nvSpPr>
        <p:spPr>
          <a:xfrm>
            <a:off x="2466023" y="3105834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Web Server</a:t>
            </a:r>
            <a:r>
              <a:rPr lang="en-US" dirty="0"/>
              <a:t> is a powerful computer that stores website files and delivers them to users when requested.</a:t>
            </a:r>
          </a:p>
        </p:txBody>
      </p:sp>
    </p:spTree>
    <p:extLst>
      <p:ext uri="{BB962C8B-B14F-4D97-AF65-F5344CB8AC3E}">
        <p14:creationId xmlns:p14="http://schemas.microsoft.com/office/powerpoint/2010/main" val="267687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D2A6-0553-14B6-BB34-AEECD8F7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*What is a Web Host?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DA12B-E5E4-7A81-BB39-ED5F7F86B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Web Host</a:t>
            </a:r>
            <a:r>
              <a:rPr lang="en-US" dirty="0"/>
              <a:t> is a company that provides web hosting services.</a:t>
            </a:r>
          </a:p>
          <a:p>
            <a:r>
              <a:rPr lang="en-US" dirty="0"/>
              <a:t>The web host:</a:t>
            </a:r>
          </a:p>
          <a:p>
            <a:pPr lvl="1"/>
            <a:r>
              <a:rPr lang="en-US" dirty="0"/>
              <a:t>Stores website files </a:t>
            </a:r>
          </a:p>
          <a:p>
            <a:pPr lvl="1"/>
            <a:r>
              <a:rPr lang="en-US" dirty="0"/>
              <a:t>Keeps the website online 24×7 </a:t>
            </a:r>
          </a:p>
          <a:p>
            <a:pPr lvl="1"/>
            <a:r>
              <a:rPr lang="en-US" dirty="0"/>
              <a:t>Provides Internet connectivity </a:t>
            </a:r>
          </a:p>
          <a:p>
            <a:pPr lvl="1"/>
            <a:r>
              <a:rPr lang="en-US" dirty="0"/>
              <a:t>Maintains the web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59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F058C-2748-34D5-3463-3C2CBD9F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Web Hosting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3EBC-9965-D768-AADE-2467241EE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4D08F0-1A1A-666A-1D8B-2A8056B2F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258753"/>
              </p:ext>
            </p:extLst>
          </p:nvPr>
        </p:nvGraphicFramePr>
        <p:xfrm>
          <a:off x="838200" y="2194560"/>
          <a:ext cx="10515600" cy="169243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215330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9572043"/>
                    </a:ext>
                  </a:extLst>
                </a:gridCol>
              </a:tblGrid>
              <a:tr h="595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53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Shared Hosting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websites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71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Free Hosting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Learning and practice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385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Dedicated Hosting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Large websites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996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252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B8C5-A172-B9DB-AE02-F1145021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F473-0081-841C-0E02-BB7B1BE94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</a:t>
            </a:r>
            <a:r>
              <a:rPr lang="en-US" b="1" dirty="0"/>
              <a:t>Shared Hosting</a:t>
            </a:r>
            <a:r>
              <a:rPr lang="en-US" dirty="0"/>
              <a:t>, multiple websites share the same server.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websites share one server.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Low cost </a:t>
            </a:r>
          </a:p>
          <a:p>
            <a:pPr lvl="1"/>
            <a:r>
              <a:rPr lang="en-US" dirty="0"/>
              <a:t>Easy to use </a:t>
            </a:r>
          </a:p>
          <a:p>
            <a:pPr lvl="1"/>
            <a:r>
              <a:rPr lang="en-US" dirty="0"/>
              <a:t>Good for beginners 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Slower if many websites receive heavy traffic </a:t>
            </a:r>
          </a:p>
          <a:p>
            <a:pPr lvl="1"/>
            <a:r>
              <a:rPr lang="en-US" dirty="0"/>
              <a:t>Limited resources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21A74-858F-E1F7-C198-484086E9E030}"/>
              </a:ext>
            </a:extLst>
          </p:cNvPr>
          <p:cNvSpPr txBox="1"/>
          <p:nvPr/>
        </p:nvSpPr>
        <p:spPr>
          <a:xfrm>
            <a:off x="4237673" y="2282875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Ex: Apartment Building</a:t>
            </a:r>
          </a:p>
          <a:p>
            <a:pPr>
              <a:buNone/>
            </a:pPr>
            <a:r>
              <a:rPr lang="en-US" dirty="0"/>
              <a:t>Many families live in one building and share facilities.</a:t>
            </a:r>
          </a:p>
        </p:txBody>
      </p:sp>
    </p:spTree>
    <p:extLst>
      <p:ext uri="{BB962C8B-B14F-4D97-AF65-F5344CB8AC3E}">
        <p14:creationId xmlns:p14="http://schemas.microsoft.com/office/powerpoint/2010/main" val="960317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0379-3979-3B6E-2930-FE9860C4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b="1" dirty="0"/>
              <a:t>ree Hosting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499A5-CBD0-184B-EE68-361BDF078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Some companies provide free hosting for learning or testing.</a:t>
            </a:r>
          </a:p>
          <a:p>
            <a:pPr marL="0" indent="0">
              <a:buNone/>
            </a:pPr>
            <a:r>
              <a:rPr lang="en-US" dirty="0"/>
              <a:t>		ex: Free trial at a gym or streaming service.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No cost </a:t>
            </a:r>
          </a:p>
          <a:p>
            <a:pPr lvl="1"/>
            <a:r>
              <a:rPr lang="en-US" dirty="0"/>
              <a:t>Good for students </a:t>
            </a:r>
          </a:p>
          <a:p>
            <a:pPr lvl="1"/>
            <a:r>
              <a:rPr lang="en-US" dirty="0"/>
              <a:t>Easy to practice 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Limited storage </a:t>
            </a:r>
          </a:p>
          <a:p>
            <a:pPr lvl="1"/>
            <a:r>
              <a:rPr lang="en-US" dirty="0"/>
              <a:t>Limited features </a:t>
            </a:r>
          </a:p>
          <a:p>
            <a:pPr lvl="1"/>
            <a:r>
              <a:rPr lang="en-US" dirty="0"/>
              <a:t>May display advertisements </a:t>
            </a:r>
          </a:p>
          <a:p>
            <a:pPr lvl="1"/>
            <a:r>
              <a:rPr lang="en-US" dirty="0"/>
              <a:t>Not suitable for business websites</a:t>
            </a:r>
          </a:p>
        </p:txBody>
      </p:sp>
    </p:spTree>
    <p:extLst>
      <p:ext uri="{BB962C8B-B14F-4D97-AF65-F5344CB8AC3E}">
        <p14:creationId xmlns:p14="http://schemas.microsoft.com/office/powerpoint/2010/main" val="1409930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1ECF-4B8F-9A9A-8D9C-3589292D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Dedicated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285D-5244-C9A8-C0B9-01096CE1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complete server is dedicated to one website.</a:t>
            </a:r>
          </a:p>
          <a:p>
            <a:pPr marL="0" indent="0">
              <a:buNone/>
            </a:pPr>
            <a:r>
              <a:rPr lang="en-US" dirty="0"/>
              <a:t>			ex: Own Independent House</a:t>
            </a:r>
          </a:p>
          <a:p>
            <a:r>
              <a:rPr lang="en-US" dirty="0"/>
              <a:t>No sharing with others.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Fast performance </a:t>
            </a:r>
          </a:p>
          <a:p>
            <a:pPr lvl="1"/>
            <a:r>
              <a:rPr lang="en-US" dirty="0"/>
              <a:t>Better security </a:t>
            </a:r>
          </a:p>
          <a:p>
            <a:pPr lvl="1"/>
            <a:r>
              <a:rPr lang="en-US" dirty="0"/>
              <a:t>More storage </a:t>
            </a:r>
          </a:p>
          <a:p>
            <a:pPr lvl="1"/>
            <a:r>
              <a:rPr lang="en-US" dirty="0"/>
              <a:t>Full control 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Expensive </a:t>
            </a:r>
          </a:p>
          <a:p>
            <a:pPr lvl="1"/>
            <a:r>
              <a:rPr lang="en-US" dirty="0"/>
              <a:t>Requires technical 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84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815</Words>
  <Application>Microsoft Office PowerPoint</Application>
  <PresentationFormat>Widescreen</PresentationFormat>
  <Paragraphs>233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Courier New</vt:lpstr>
      <vt:lpstr>Times New Roman</vt:lpstr>
      <vt:lpstr>Office Theme</vt:lpstr>
      <vt:lpstr>Audio &amp; Video</vt:lpstr>
      <vt:lpstr>Audio</vt:lpstr>
      <vt:lpstr>PowerPoint Presentation</vt:lpstr>
      <vt:lpstr>Video</vt:lpstr>
      <vt:lpstr>PowerPoint Presentation</vt:lpstr>
      <vt:lpstr>Image Map in HTML5</vt:lpstr>
      <vt:lpstr>Tags Used in Image 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HOSTING</vt:lpstr>
      <vt:lpstr>*What is a Web Host?</vt:lpstr>
      <vt:lpstr>Types of Web Hosting</vt:lpstr>
      <vt:lpstr>Shared Hosting</vt:lpstr>
      <vt:lpstr>Free Hosting</vt:lpstr>
      <vt:lpstr>Dedicated Hosting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Moresh Londe</dc:creator>
  <cp:lastModifiedBy>Moresh Londe</cp:lastModifiedBy>
  <cp:revision>1</cp:revision>
  <dcterms:created xsi:type="dcterms:W3CDTF">2026-07-15T15:29:20Z</dcterms:created>
  <dcterms:modified xsi:type="dcterms:W3CDTF">2026-07-15T16:35:11Z</dcterms:modified>
</cp:coreProperties>
</file>