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9EE96-0F88-4A93-9581-4A8CDCA795D7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CA725-07FD-4FCD-8C19-9B362D7E1E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0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CA725-07FD-4FCD-8C19-9B362D7E1E9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19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CA725-07FD-4FCD-8C19-9B362D7E1E9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666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CA725-07FD-4FCD-8C19-9B362D7E1E9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916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45996-E7A9-C6CF-E0FE-53F9362FB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AA1D0-3135-34DE-A0E3-C68CE58DA6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18091-9E1F-8A92-7712-9AA9C3DC5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1ED89-03AD-E9C5-E471-8DD392E7A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2AA38-385D-2D57-6E91-C64EC353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95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567B2-32DD-2B3B-298E-509BEC9D5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67419-7FD1-7538-FF77-A5DB86A91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BC408-833B-9368-214F-ECDACB743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A4244-80BA-E70D-7AEF-33CFDCA62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693A7-B3FE-FF47-16D5-F276F0D0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960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63AC-DE60-DB3E-3E9E-2CBE1D9EB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CA843-155A-AFC8-5D77-0FDCFE115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7C96C-5FFE-DFC9-C726-1F705F4E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C8269-B793-6106-F825-FA134FA5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A738E-036B-AB34-6B2C-C06F2BBB7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22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CDBB-73A2-0152-7AEC-BB5BE9FD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A503F-89B9-6EB5-1601-F73ADA2CB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E08E0-7A40-92FE-2F09-6B27AF2B5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E8349-22F0-3906-006D-E2E2CA1A0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A12D3-A0B7-27FA-D785-8769DF32A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36868-84B7-2BA6-2DCE-AC0122A9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931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8CFFE-0ACF-A1A5-8C0F-1FA3C930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96598-BF1D-22A8-4415-760AEAAFD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97D4C-50AE-6BCA-7AA6-34AA686CA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1AB3E3-5F8B-9E5A-4F98-1727DA779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340245-88FE-814D-E284-39FABFBAE0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6861B8-FC43-B7B7-43B3-359414989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3B9F7A-11C2-A61E-F769-F42227D09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2FA846-3614-9404-CB35-8EFF6516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16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5199A-BB3C-3C71-B82E-98572A1D9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19D48-18A6-9F6D-3E39-4E3ECC3F8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AF403-5DF9-89C4-7EB2-EA452FDB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50C14-2398-C8A4-07C2-3788B7F6E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780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24527E-A376-A769-348C-EBED466C5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555E5-CE07-76FF-1CC9-C35C9CCB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652440-5966-9E10-3333-C4B6FE745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78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89008-5594-50EE-C722-7EC61053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0F2D3-CC81-02F1-7436-E4453E286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86F6B-9B02-8231-43E6-79FE59390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4CB9D-99AE-7B1B-C9BF-CFC695856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5A5FA-DC17-FA11-57CD-655D4D5B7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7B4C56-CD6D-5012-D5E2-4CAF4E42A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232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DB0A0-5D4F-797E-B3B4-7312AF423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85A0B5-FAD2-81DA-AFCA-0A2B927CF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D2FA9-D0BB-CCAB-D4F2-85E975676B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AD1BA-B19B-4CF3-D061-C5F38F74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EA944-4219-FF0A-9097-2C7B705C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6B788-E847-602F-51C3-7C8FD6FC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63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15E5E-B34A-D317-AFB0-CFBFB585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E4B7E-E999-2C97-4F51-B6A26CCD7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F998C-4CCA-514B-9165-D5FD10B4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3B46C-1011-4F1B-9800-8C3D3A87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FAA08-1522-48CD-2D26-A957E915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2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BCF7CD-41DA-D7C4-25C4-0FC61BF2B4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2DB3D-986C-F743-4CE1-46FBEC959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14407-E1BA-513A-0136-2E4B6836D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DAC6F-6DB0-D8D3-C569-303B839D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85676-66A2-913C-8D5A-AC17F4EB9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509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536D2D-BC31-8273-AC24-FA01818DB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BD6E3-1125-BE73-6959-AC3EF76E0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95495-F67F-B69D-67CA-1C0278644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CF364-2191-49B6-8D60-26272BB99CCA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ECCC-362D-27F8-2B1B-A22E983E0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5559A-AEF6-1683-04A8-6DA7D6CB2F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0FA774-BC17-44E1-B30C-410B7C399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235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EO for beginners. Comprehensive guide on the first SEO steps | Refinery89">
            <a:extLst>
              <a:ext uri="{FF2B5EF4-FFF2-40B4-BE49-F238E27FC236}">
                <a16:creationId xmlns:a16="http://schemas.microsoft.com/office/drawing/2014/main" id="{B3FEF1F9-50DD-28CC-3CF8-5DA6228B8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304" y="819563"/>
            <a:ext cx="9144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A5D69A-1EC3-8A65-2175-AF0B098D7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707545"/>
          </a:xfrm>
        </p:spPr>
        <p:txBody>
          <a:bodyPr>
            <a:normAutofit/>
          </a:bodyPr>
          <a:lstStyle/>
          <a:p>
            <a:br>
              <a:rPr lang="en-IN" dirty="0"/>
            </a:br>
            <a:r>
              <a:rPr lang="en-IN" sz="3200" dirty="0"/>
              <a:t>Search Engine Optimization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B3AE1-00D0-B6E2-0D1A-4F94A9DE7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61231" y="6392130"/>
            <a:ext cx="2930769" cy="465870"/>
          </a:xfrm>
        </p:spPr>
        <p:txBody>
          <a:bodyPr/>
          <a:lstStyle/>
          <a:p>
            <a:r>
              <a:rPr lang="en-IN" dirty="0" err="1"/>
              <a:t>Moresh</a:t>
            </a:r>
            <a:r>
              <a:rPr lang="en-IN" dirty="0"/>
              <a:t> Londe </a:t>
            </a:r>
          </a:p>
        </p:txBody>
      </p:sp>
    </p:spTree>
    <p:extLst>
      <p:ext uri="{BB962C8B-B14F-4D97-AF65-F5344CB8AC3E}">
        <p14:creationId xmlns:p14="http://schemas.microsoft.com/office/powerpoint/2010/main" val="3733380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5 top tips for accessible SEO | AbilityNet">
            <a:extLst>
              <a:ext uri="{FF2B5EF4-FFF2-40B4-BE49-F238E27FC236}">
                <a16:creationId xmlns:a16="http://schemas.microsoft.com/office/drawing/2014/main" id="{A77B3652-341C-EFB7-AE4A-BA1EA9D13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8072" cy="5148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EAB345-A1C1-9A38-7375-B83B3D9C9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			What is SEO?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188AE-4738-71F6-B255-FA71112F2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9664" y="1825625"/>
            <a:ext cx="7184136" cy="4351338"/>
          </a:xfrm>
        </p:spPr>
        <p:txBody>
          <a:bodyPr/>
          <a:lstStyle/>
          <a:p>
            <a:pPr algn="just"/>
            <a:r>
              <a:rPr lang="en-IN" b="1" dirty="0"/>
              <a:t>SEO (Search Engine Optimization)</a:t>
            </a:r>
            <a:r>
              <a:rPr lang="en-IN" dirty="0"/>
              <a:t> is the </a:t>
            </a:r>
            <a:r>
              <a:rPr lang="en-IN" i="1" u="sng" dirty="0"/>
              <a:t>process of improving a website </a:t>
            </a:r>
            <a:r>
              <a:rPr lang="en-IN" dirty="0"/>
              <a:t>so that it </a:t>
            </a:r>
            <a:r>
              <a:rPr lang="en-IN" b="1" u="sng" dirty="0"/>
              <a:t>appears higher in search </a:t>
            </a:r>
            <a:r>
              <a:rPr lang="en-IN" dirty="0"/>
              <a:t>engine results like </a:t>
            </a:r>
            <a:r>
              <a:rPr lang="en-IN" b="1" dirty="0"/>
              <a:t>Google, Bing, and Yahoo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389C8-D5A6-EBF8-B25D-247A0DCC0075}"/>
              </a:ext>
            </a:extLst>
          </p:cNvPr>
          <p:cNvSpPr txBox="1"/>
          <p:nvPr/>
        </p:nvSpPr>
        <p:spPr>
          <a:xfrm>
            <a:off x="743712" y="5283009"/>
            <a:ext cx="63539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Simple Definition</a:t>
            </a:r>
          </a:p>
          <a:p>
            <a:pPr>
              <a:buNone/>
            </a:pPr>
            <a:r>
              <a:rPr lang="en-IN" dirty="0"/>
              <a:t>SEO helps people find your website when they search online.</a:t>
            </a:r>
          </a:p>
        </p:txBody>
      </p:sp>
    </p:spTree>
    <p:extLst>
      <p:ext uri="{BB962C8B-B14F-4D97-AF65-F5344CB8AC3E}">
        <p14:creationId xmlns:p14="http://schemas.microsoft.com/office/powerpoint/2010/main" val="857172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1D59E9-8C67-95E4-B61E-45AE58F82C5B}"/>
              </a:ext>
            </a:extLst>
          </p:cNvPr>
          <p:cNvSpPr/>
          <p:nvPr/>
        </p:nvSpPr>
        <p:spPr>
          <a:xfrm>
            <a:off x="8042031" y="2375480"/>
            <a:ext cx="2450123" cy="9783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B51DBA-FD7A-5585-164D-5E4A5A4B1DA0}"/>
              </a:ext>
            </a:extLst>
          </p:cNvPr>
          <p:cNvSpPr/>
          <p:nvPr/>
        </p:nvSpPr>
        <p:spPr>
          <a:xfrm>
            <a:off x="1699846" y="2093119"/>
            <a:ext cx="2450123" cy="9783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 descr="Master Off Page SEO Course: Optimize Your Website 2026">
            <a:extLst>
              <a:ext uri="{FF2B5EF4-FFF2-40B4-BE49-F238E27FC236}">
                <a16:creationId xmlns:a16="http://schemas.microsoft.com/office/drawing/2014/main" id="{D199FE37-7ED8-4A0A-D373-4411FCA17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816" y="-109171"/>
            <a:ext cx="2614246" cy="26142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307650-6E3C-AF51-9DF0-E732B5F34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767556"/>
            <a:ext cx="10515600" cy="1325563"/>
          </a:xfrm>
        </p:spPr>
        <p:txBody>
          <a:bodyPr/>
          <a:lstStyle/>
          <a:p>
            <a:r>
              <a:rPr lang="en-IN" dirty="0"/>
              <a:t>              Types of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33DDE-49FD-93FD-7909-DA522E7B4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3165" y="1969386"/>
            <a:ext cx="5157787" cy="823912"/>
          </a:xfrm>
        </p:spPr>
        <p:txBody>
          <a:bodyPr/>
          <a:lstStyle/>
          <a:p>
            <a:pPr algn="ctr"/>
            <a:r>
              <a:rPr lang="en-IN" dirty="0"/>
              <a:t>On-Page SEO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A325A-E117-A17D-BE52-1A222E05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6300" y="3315676"/>
            <a:ext cx="5157787" cy="3684588"/>
          </a:xfrm>
        </p:spPr>
        <p:txBody>
          <a:bodyPr>
            <a:normAutofit/>
          </a:bodyPr>
          <a:lstStyle/>
          <a:p>
            <a:r>
              <a:rPr lang="en-IN" dirty="0"/>
              <a:t>Changes made inside the website.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dirty="0"/>
              <a:t>Title </a:t>
            </a:r>
          </a:p>
          <a:p>
            <a:pPr lvl="1"/>
            <a:r>
              <a:rPr lang="en-IN" dirty="0"/>
              <a:t>Content </a:t>
            </a:r>
          </a:p>
          <a:p>
            <a:pPr lvl="1"/>
            <a:r>
              <a:rPr lang="en-IN" dirty="0"/>
              <a:t>Images </a:t>
            </a:r>
          </a:p>
          <a:p>
            <a:pPr lvl="1"/>
            <a:r>
              <a:rPr lang="en-IN" dirty="0"/>
              <a:t>Keywords </a:t>
            </a:r>
          </a:p>
          <a:p>
            <a:pPr lvl="1"/>
            <a:r>
              <a:rPr lang="en-IN" dirty="0"/>
              <a:t>Headings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E6FB64-E248-9CB9-453D-A63972C55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31050" y="2353133"/>
            <a:ext cx="5183188" cy="823912"/>
          </a:xfrm>
        </p:spPr>
        <p:txBody>
          <a:bodyPr/>
          <a:lstStyle/>
          <a:p>
            <a:pPr algn="ctr"/>
            <a:r>
              <a:rPr lang="en-IN" dirty="0"/>
              <a:t>Off-Page SEO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B33870-6CC2-3D8A-6156-298EC7622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2169" y="3437060"/>
            <a:ext cx="5183188" cy="3684588"/>
          </a:xfrm>
        </p:spPr>
        <p:txBody>
          <a:bodyPr>
            <a:normAutofit/>
          </a:bodyPr>
          <a:lstStyle/>
          <a:p>
            <a:r>
              <a:rPr lang="en-IN" dirty="0"/>
              <a:t>Activities outside the website.</a:t>
            </a:r>
          </a:p>
          <a:p>
            <a:r>
              <a:rPr lang="en-IN" dirty="0"/>
              <a:t>Examples:</a:t>
            </a:r>
          </a:p>
          <a:p>
            <a:pPr lvl="1"/>
            <a:r>
              <a:rPr lang="en-IN" dirty="0"/>
              <a:t>Backlinks </a:t>
            </a:r>
          </a:p>
          <a:p>
            <a:pPr lvl="1"/>
            <a:r>
              <a:rPr lang="en-IN" dirty="0"/>
              <a:t>Social sharing </a:t>
            </a:r>
          </a:p>
          <a:p>
            <a:pPr lvl="1"/>
            <a:r>
              <a:rPr lang="en-IN" dirty="0"/>
              <a:t>Reviews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132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15 On-Page SEO Techniques (Basic and Advanced)">
            <a:extLst>
              <a:ext uri="{FF2B5EF4-FFF2-40B4-BE49-F238E27FC236}">
                <a16:creationId xmlns:a16="http://schemas.microsoft.com/office/drawing/2014/main" id="{973FD2C0-D7DA-8344-CE10-EECE55352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861" y="0"/>
            <a:ext cx="5984633" cy="29776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DBAF38-2D15-3044-46C0-D70EBDD45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On-Page SEO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15AB9-C860-0D70-DAB1-5E3920E09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 is On-Page SEO?</a:t>
            </a:r>
          </a:p>
          <a:p>
            <a:pPr lvl="1"/>
            <a:r>
              <a:rPr lang="en-IN" dirty="0"/>
              <a:t>Optimizing elements inside webpages.</a:t>
            </a:r>
          </a:p>
          <a:p>
            <a:pPr marL="0" indent="0" algn="ctr">
              <a:buNone/>
            </a:pPr>
            <a:r>
              <a:rPr lang="en-IN" dirty="0"/>
              <a:t>Example: Restaurant Website: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b="1" i="1" u="sng" dirty="0"/>
              <a:t>Displayed to the end user </a:t>
            </a:r>
            <a:r>
              <a:rPr lang="en-IN" dirty="0"/>
              <a:t> such as text, images</a:t>
            </a:r>
            <a:endParaRPr lang="en-IN" b="1" i="1" u="sng" dirty="0"/>
          </a:p>
          <a:p>
            <a:endParaRPr lang="en-IN" b="1" i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F5B6B-75B2-D41E-2ACE-BBB73FA4C55C}"/>
              </a:ext>
            </a:extLst>
          </p:cNvPr>
          <p:cNvSpPr txBox="1"/>
          <p:nvPr/>
        </p:nvSpPr>
        <p:spPr>
          <a:xfrm>
            <a:off x="1184032" y="342900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&lt;title&gt;</a:t>
            </a:r>
          </a:p>
          <a:p>
            <a:r>
              <a:rPr lang="en-IN" dirty="0"/>
              <a:t>	Home</a:t>
            </a:r>
          </a:p>
          <a:p>
            <a:r>
              <a:rPr lang="en-IN" dirty="0"/>
              <a:t>&lt;/title&gt;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051B2-A0A8-F84D-C580-282C2EE29CE5}"/>
              </a:ext>
            </a:extLst>
          </p:cNvPr>
          <p:cNvSpPr txBox="1"/>
          <p:nvPr/>
        </p:nvSpPr>
        <p:spPr>
          <a:xfrm>
            <a:off x="7836877" y="353962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&lt;title&gt;</a:t>
            </a:r>
          </a:p>
          <a:p>
            <a:r>
              <a:rPr lang="en-IN" dirty="0"/>
              <a:t>	Best Pizza Restaurant in Mumbai</a:t>
            </a:r>
          </a:p>
          <a:p>
            <a:r>
              <a:rPr lang="en-IN" dirty="0"/>
              <a:t>&lt;/title&gt;</a:t>
            </a:r>
          </a:p>
        </p:txBody>
      </p:sp>
    </p:spTree>
    <p:extLst>
      <p:ext uri="{BB962C8B-B14F-4D97-AF65-F5344CB8AC3E}">
        <p14:creationId xmlns:p14="http://schemas.microsoft.com/office/powerpoint/2010/main" val="49443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Off-page SEO Services | Grow Your DA | Digital Marksmen">
            <a:extLst>
              <a:ext uri="{FF2B5EF4-FFF2-40B4-BE49-F238E27FC236}">
                <a16:creationId xmlns:a16="http://schemas.microsoft.com/office/drawing/2014/main" id="{1D5ABDD0-4099-6FB9-A53D-94CE9F33E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265" y="65454"/>
            <a:ext cx="6313504" cy="32504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439B54-3322-D1B8-AC29-E070D9E0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Off - page SEO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4AD6E-7B22-0F5A-3C9C-8E03B0294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Activities done outside your website.</a:t>
            </a:r>
          </a:p>
          <a:p>
            <a:r>
              <a:rPr lang="en-IN" dirty="0"/>
              <a:t>Main techniques:</a:t>
            </a:r>
          </a:p>
          <a:p>
            <a:pPr lvl="1"/>
            <a:r>
              <a:rPr lang="en-IN" dirty="0"/>
              <a:t>Backlinks </a:t>
            </a:r>
          </a:p>
          <a:p>
            <a:pPr lvl="1"/>
            <a:r>
              <a:rPr lang="en-IN" dirty="0"/>
              <a:t>Social Bookmarking </a:t>
            </a:r>
          </a:p>
          <a:p>
            <a:pPr lvl="1"/>
            <a:r>
              <a:rPr lang="en-IN" dirty="0"/>
              <a:t>Social Media Optimization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3B0BB-E862-105B-7577-0B20898F8314}"/>
              </a:ext>
            </a:extLst>
          </p:cNvPr>
          <p:cNvSpPr txBox="1"/>
          <p:nvPr/>
        </p:nvSpPr>
        <p:spPr>
          <a:xfrm>
            <a:off x="246185" y="55655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backlink is a link from another website to your website.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0C8FF-76A2-E4FE-52F7-FD834C6267E7}"/>
              </a:ext>
            </a:extLst>
          </p:cNvPr>
          <p:cNvSpPr txBox="1"/>
          <p:nvPr/>
        </p:nvSpPr>
        <p:spPr>
          <a:xfrm>
            <a:off x="246185" y="58712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Saving and sharing website links on bookmarking websites.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706141-11C2-94A3-462F-7401AB285DEC}"/>
              </a:ext>
            </a:extLst>
          </p:cNvPr>
          <p:cNvSpPr txBox="1"/>
          <p:nvPr/>
        </p:nvSpPr>
        <p:spPr>
          <a:xfrm>
            <a:off x="246185" y="61272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Using social media to increase website visibility.</a:t>
            </a:r>
          </a:p>
        </p:txBody>
      </p:sp>
    </p:spTree>
    <p:extLst>
      <p:ext uri="{BB962C8B-B14F-4D97-AF65-F5344CB8AC3E}">
        <p14:creationId xmlns:p14="http://schemas.microsoft.com/office/powerpoint/2010/main" val="208804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edora Hat Style Vector Art, Icons, and Graphics for Free Download">
            <a:extLst>
              <a:ext uri="{FF2B5EF4-FFF2-40B4-BE49-F238E27FC236}">
                <a16:creationId xmlns:a16="http://schemas.microsoft.com/office/drawing/2014/main" id="{6C344621-2CEE-EC40-266E-AF133486B0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19" t="6177" b="10279"/>
          <a:stretch>
            <a:fillRect/>
          </a:stretch>
        </p:blipFill>
        <p:spPr>
          <a:xfrm>
            <a:off x="6096000" y="1825625"/>
            <a:ext cx="1393126" cy="980050"/>
          </a:xfrm>
          <a:prstGeom prst="rect">
            <a:avLst/>
          </a:prstGeom>
        </p:spPr>
      </p:pic>
      <p:pic>
        <p:nvPicPr>
          <p:cNvPr id="6" name="Picture 5" descr="Fedora Hat Style Vector Art, Icons, and Graphics for Free Download">
            <a:extLst>
              <a:ext uri="{FF2B5EF4-FFF2-40B4-BE49-F238E27FC236}">
                <a16:creationId xmlns:a16="http://schemas.microsoft.com/office/drawing/2014/main" id="{5BC0A590-7106-30F6-7FC1-3A6FD409A0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9619"/>
          <a:stretch>
            <a:fillRect/>
          </a:stretch>
        </p:blipFill>
        <p:spPr>
          <a:xfrm>
            <a:off x="1041054" y="1690688"/>
            <a:ext cx="1393126" cy="11730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FCC227-6D98-8CBA-7F93-A55B00438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Techniques OF SEO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FBF569A-2D88-CBCD-5894-73E01F0722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0737107"/>
              </p:ext>
            </p:extLst>
          </p:nvPr>
        </p:nvGraphicFramePr>
        <p:xfrm>
          <a:off x="838200" y="1825625"/>
          <a:ext cx="10515600" cy="40801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6920370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77208513"/>
                    </a:ext>
                  </a:extLst>
                </a:gridCol>
              </a:tblGrid>
              <a:tr h="112859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                         White Hat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                    Black Hat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422852"/>
                  </a:ext>
                </a:extLst>
              </a:tr>
              <a:tr h="562708">
                <a:tc>
                  <a:txBody>
                    <a:bodyPr/>
                    <a:lstStyle/>
                    <a:p>
                      <a:r>
                        <a:rPr lang="en-IN" dirty="0"/>
                        <a:t>Relevant Content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Duplicate Content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666237"/>
                  </a:ext>
                </a:extLst>
              </a:tr>
              <a:tr h="597876">
                <a:tc>
                  <a:txBody>
                    <a:bodyPr/>
                    <a:lstStyle/>
                    <a:p>
                      <a:r>
                        <a:rPr lang="en-IN" dirty="0"/>
                        <a:t>Well labelled images, Relevant links, good spelling, Grammer.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Duplicate text, Links from non relevant content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6884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N" sz="1800" b="0" i="0" spc="12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There is high risk in Black Hat SEO.</a:t>
                      </a:r>
                      <a:endParaRPr lang="en-IN" sz="1800" b="0" i="0" spc="1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133350" marB="133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ctr">
                        <a:spcBef>
                          <a:spcPts val="1875"/>
                        </a:spcBef>
                        <a:spcAft>
                          <a:spcPts val="1875"/>
                        </a:spcAft>
                        <a:buNone/>
                      </a:pPr>
                      <a:r>
                        <a:rPr lang="en-IN" sz="1800" b="0" i="0" spc="12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There is low or zero risk in White Hat SEO.</a:t>
                      </a:r>
                      <a:endParaRPr lang="en-IN" sz="1800" b="0" i="0" spc="1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95250" marR="95250" marT="133350" marB="133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767808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344832"/>
                  </a:ext>
                </a:extLst>
              </a:tr>
            </a:tbl>
          </a:graphicData>
        </a:graphic>
      </p:graphicFrame>
      <p:pic>
        <p:nvPicPr>
          <p:cNvPr id="4" name="Picture 3" descr="Black Hats vs White Hats, Who's Who? | Little Fire Digital Ltd">
            <a:extLst>
              <a:ext uri="{FF2B5EF4-FFF2-40B4-BE49-F238E27FC236}">
                <a16:creationId xmlns:a16="http://schemas.microsoft.com/office/drawing/2014/main" id="{EEA36DD9-C5E3-C0B7-FF12-C974C2DEA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031" y="5024218"/>
            <a:ext cx="2203938" cy="17631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B226480-ABB2-4A18-A01F-E10404552418}"/>
              </a:ext>
            </a:extLst>
          </p:cNvPr>
          <p:cNvSpPr txBox="1"/>
          <p:nvPr/>
        </p:nvSpPr>
        <p:spPr>
          <a:xfrm>
            <a:off x="971246" y="5259462"/>
            <a:ext cx="2925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White Hat SEO follows search engine guidelines.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637E25-5225-2A7C-5A5C-90022152B287}"/>
              </a:ext>
            </a:extLst>
          </p:cNvPr>
          <p:cNvSpPr txBox="1"/>
          <p:nvPr/>
        </p:nvSpPr>
        <p:spPr>
          <a:xfrm>
            <a:off x="7923639" y="5259462"/>
            <a:ext cx="3297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Black Hat SEO uses unfair methods to manipulate ranking.</a:t>
            </a:r>
          </a:p>
        </p:txBody>
      </p:sp>
    </p:spTree>
    <p:extLst>
      <p:ext uri="{BB962C8B-B14F-4D97-AF65-F5344CB8AC3E}">
        <p14:creationId xmlns:p14="http://schemas.microsoft.com/office/powerpoint/2010/main" val="1041908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3235-5611-1E52-0084-DB83CC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Optimizing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E00F8-E7C4-8CCD-6C3F-6AB83F420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Website optimization means improving website elements to make it search engine friendly.</a:t>
            </a:r>
          </a:p>
          <a:p>
            <a:r>
              <a:rPr lang="en-IN" dirty="0"/>
              <a:t>Main areas: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dirty="0"/>
              <a:t>Page Structure Optimization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dirty="0"/>
              <a:t>Keywords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dirty="0"/>
              <a:t>Social Bookmarking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dirty="0"/>
              <a:t>SMO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dirty="0"/>
              <a:t>Backlinks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IN" dirty="0"/>
              <a:t>Technical Factors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7796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reate a simple flat illustration of a search engine reading a webpage. A webpage is displayed with clearly labeled sections: Title Tag, Meta Description, Headings, Content, and Images. A magnifying glass moves from the top of the page to the bottom, showing the order in which search engines understand the page. Use clean lines, minimal icons, and a white background. Professional educational infographic style.">
            <a:extLst>
              <a:ext uri="{FF2B5EF4-FFF2-40B4-BE49-F238E27FC236}">
                <a16:creationId xmlns:a16="http://schemas.microsoft.com/office/drawing/2014/main" id="{C3EA34EF-277A-052E-780D-38B2DBA9A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665" y="0"/>
            <a:ext cx="51435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4F1E3C-67F2-7A05-15D9-2E1AB12F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SEO Page Structure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8956F-505C-D8E7-8A66-83D2E82E9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&lt;title&gt;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r>
              <a:rPr lang="en-IN" dirty="0"/>
              <a:t>Meta Description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r>
              <a:rPr lang="en-IN" dirty="0"/>
              <a:t>Heading Tags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r>
              <a:rPr lang="en-IN" dirty="0"/>
              <a:t>Content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r>
              <a:rPr lang="en-IN" dirty="0"/>
              <a:t>Images</a:t>
            </a:r>
          </a:p>
          <a:p>
            <a:pPr marL="457200" lvl="1" indent="0">
              <a:buNone/>
            </a:pPr>
            <a:r>
              <a:rPr lang="en-IN" dirty="0"/>
              <a:t>		Each element helps search engines understand the page.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0641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est Tools To Write Accurate Title Tag">
            <a:extLst>
              <a:ext uri="{FF2B5EF4-FFF2-40B4-BE49-F238E27FC236}">
                <a16:creationId xmlns:a16="http://schemas.microsoft.com/office/drawing/2014/main" id="{79716F97-56FA-04E7-2C53-CBEB419F44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67" t="12456" r="11667" b="9340"/>
          <a:stretch>
            <a:fillRect/>
          </a:stretch>
        </p:blipFill>
        <p:spPr>
          <a:xfrm>
            <a:off x="5545015" y="3219360"/>
            <a:ext cx="5908431" cy="30925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3B775E-8EF0-AA94-BEA0-0C37F7B5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Title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2885A-A17E-5F16-866F-64A0C2CB6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HTML:</a:t>
            </a:r>
          </a:p>
          <a:p>
            <a:pPr marL="457200" lvl="1" indent="0">
              <a:buNone/>
            </a:pPr>
            <a:r>
              <a:rPr lang="en-IN" dirty="0"/>
              <a:t>	&lt;title&gt;</a:t>
            </a:r>
          </a:p>
          <a:p>
            <a:pPr marL="914400" lvl="2" indent="0">
              <a:buNone/>
            </a:pPr>
            <a:r>
              <a:rPr lang="en-IN" dirty="0"/>
              <a:t>	Best Pizza Restaurant Mumbai</a:t>
            </a:r>
          </a:p>
          <a:p>
            <a:pPr marL="457200" lvl="1" indent="0">
              <a:buNone/>
            </a:pPr>
            <a:r>
              <a:rPr lang="en-IN" dirty="0"/>
              <a:t>	&lt;/title&gt;</a:t>
            </a:r>
          </a:p>
          <a:p>
            <a:r>
              <a:rPr lang="en-IN" dirty="0"/>
              <a:t>Purpose:</a:t>
            </a:r>
          </a:p>
          <a:p>
            <a:pPr lvl="1"/>
            <a:r>
              <a:rPr lang="en-IN" dirty="0"/>
              <a:t>Shows page topic</a:t>
            </a:r>
          </a:p>
          <a:p>
            <a:pPr lvl="1"/>
            <a:r>
              <a:rPr lang="en-IN" dirty="0"/>
              <a:t>Appears in Google results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Search result:</a:t>
            </a:r>
          </a:p>
          <a:p>
            <a:pPr lvl="2"/>
            <a:r>
              <a:rPr lang="en-IN" dirty="0"/>
              <a:t>Best Pizza Restaurant Mumbai</a:t>
            </a:r>
          </a:p>
          <a:p>
            <a:pPr lvl="2"/>
            <a:r>
              <a:rPr lang="en-IN" dirty="0"/>
              <a:t>Fresh Italian pizza delivery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527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portance of Meta Titles and Meta Descriptions for SEO">
            <a:extLst>
              <a:ext uri="{FF2B5EF4-FFF2-40B4-BE49-F238E27FC236}">
                <a16:creationId xmlns:a16="http://schemas.microsoft.com/office/drawing/2014/main" id="{B031E0A1-9489-2A08-1527-BB9642605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511" y="466963"/>
            <a:ext cx="7313489" cy="31742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B1E386-F4F6-16C8-445B-E42D459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Meta Description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DF626-D338-C88A-1673-46028B008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7" y="241751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HTML: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2400" dirty="0"/>
              <a:t>&lt;meta name="description“ content="Fresh pizza delivery in Mumbai"&gt;</a:t>
            </a:r>
            <a:endParaRPr lang="en-IN" dirty="0"/>
          </a:p>
          <a:p>
            <a:r>
              <a:rPr lang="en-IN" dirty="0"/>
              <a:t>Purpose:</a:t>
            </a:r>
          </a:p>
          <a:p>
            <a:pPr marL="0" indent="0">
              <a:buNone/>
            </a:pPr>
            <a:r>
              <a:rPr lang="en-IN" dirty="0"/>
              <a:t>	Gives summary of webpage</a:t>
            </a:r>
          </a:p>
          <a:p>
            <a:pPr marL="0" indent="0">
              <a:buNone/>
            </a:pPr>
            <a:r>
              <a:rPr lang="en-IN" dirty="0"/>
              <a:t>	Improves click rate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Fresh Italian pizza with fast delivery.</a:t>
            </a:r>
          </a:p>
          <a:p>
            <a:pPr marL="0" indent="0">
              <a:buNone/>
            </a:pPr>
            <a:r>
              <a:rPr lang="en-IN" dirty="0"/>
              <a:t>	Order online today.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775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w to Use Headings for Search Engine Optimisation">
            <a:extLst>
              <a:ext uri="{FF2B5EF4-FFF2-40B4-BE49-F238E27FC236}">
                <a16:creationId xmlns:a16="http://schemas.microsoft.com/office/drawing/2014/main" id="{52F7C29C-7245-5E62-5576-10C4A8623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371" y="0"/>
            <a:ext cx="5931629" cy="42114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75E5B1-7524-9B5C-3DCD-C4D3549D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Heading Tags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08AF6-DBDC-5AEE-0044-26A05563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HTML headings: 	&lt;h1&gt;</a:t>
            </a:r>
          </a:p>
          <a:p>
            <a:pPr marL="0" indent="0">
              <a:buNone/>
            </a:pPr>
            <a:r>
              <a:rPr lang="en-IN" dirty="0"/>
              <a:t>			&lt;h2&gt;</a:t>
            </a:r>
          </a:p>
          <a:p>
            <a:pPr marL="0" indent="0">
              <a:buNone/>
            </a:pPr>
            <a:r>
              <a:rPr lang="en-IN" dirty="0"/>
              <a:t>			&lt;h3&gt;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H1:   Best Pizza Restaurant Mumbai</a:t>
            </a:r>
          </a:p>
          <a:p>
            <a:pPr marL="0" indent="0">
              <a:buNone/>
            </a:pPr>
            <a:r>
              <a:rPr lang="en-IN" dirty="0"/>
              <a:t>	H2:   </a:t>
            </a:r>
            <a:r>
              <a:rPr lang="en-IN" sz="2400" dirty="0"/>
              <a:t>Pizza Menu</a:t>
            </a:r>
          </a:p>
          <a:p>
            <a:pPr marL="0" indent="0">
              <a:buNone/>
            </a:pPr>
            <a:r>
              <a:rPr lang="en-IN" dirty="0"/>
              <a:t>	H2:    </a:t>
            </a:r>
            <a:r>
              <a:rPr lang="en-IN" sz="2400" dirty="0"/>
              <a:t>Customer Reviews</a:t>
            </a:r>
          </a:p>
          <a:p>
            <a:pPr marL="0" indent="0">
              <a:buNone/>
            </a:pPr>
            <a:r>
              <a:rPr lang="en-IN" dirty="0"/>
              <a:t>Benefits:</a:t>
            </a:r>
          </a:p>
          <a:p>
            <a:pPr marL="0" indent="0">
              <a:buNone/>
            </a:pPr>
            <a:r>
              <a:rPr lang="en-IN" dirty="0"/>
              <a:t>	Organizes content</a:t>
            </a:r>
          </a:p>
          <a:p>
            <a:pPr marL="0" indent="0">
              <a:buNone/>
            </a:pPr>
            <a:r>
              <a:rPr lang="en-IN" dirty="0"/>
              <a:t>	Helps Google understand sections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26BA53-5060-6026-5447-B0656DB98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479" y="4576582"/>
            <a:ext cx="3713352" cy="191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65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Alt Text: What It Is, How to Write It, and Why It Matters to SEO">
            <a:extLst>
              <a:ext uri="{FF2B5EF4-FFF2-40B4-BE49-F238E27FC236}">
                <a16:creationId xmlns:a16="http://schemas.microsoft.com/office/drawing/2014/main" id="{929BCB83-3DE1-5979-53FE-0C1E16F33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952" y="113370"/>
            <a:ext cx="3950208" cy="26290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594D5E-A812-73FD-5638-C4BA0F335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Image Tag with ALT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4C47B-990A-0C10-8720-BAA9C51BE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Images need descriptions.</a:t>
            </a:r>
          </a:p>
          <a:p>
            <a:r>
              <a:rPr lang="en-IN" dirty="0"/>
              <a:t>Bad:</a:t>
            </a:r>
          </a:p>
          <a:p>
            <a:pPr marL="0" indent="0">
              <a:buNone/>
            </a:pPr>
            <a:r>
              <a:rPr lang="en-IN" dirty="0"/>
              <a:t>		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="pizza.jpg" alt="image"&gt;</a:t>
            </a:r>
          </a:p>
          <a:p>
            <a:r>
              <a:rPr lang="en-IN" dirty="0"/>
              <a:t>Good:</a:t>
            </a:r>
          </a:p>
          <a:p>
            <a:pPr marL="0" indent="0">
              <a:buNone/>
            </a:pPr>
            <a:r>
              <a:rPr lang="en-IN" dirty="0"/>
              <a:t>		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="pizza.jpg“ alt="Fresh cheese pizza Mumbai"&gt;</a:t>
            </a:r>
          </a:p>
          <a:p>
            <a:r>
              <a:rPr lang="en-IN" dirty="0"/>
              <a:t>Why?</a:t>
            </a:r>
          </a:p>
          <a:p>
            <a:pPr marL="0" indent="0">
              <a:buNone/>
            </a:pPr>
            <a:r>
              <a:rPr lang="en-IN" dirty="0"/>
              <a:t>	Search engines cannot see images.</a:t>
            </a:r>
          </a:p>
          <a:p>
            <a:pPr marL="0" indent="0">
              <a:buNone/>
            </a:pPr>
            <a:r>
              <a:rPr lang="en-IN" dirty="0"/>
              <a:t>	ALT text explains the image.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9974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w to Choose Keywords for SEO: 5-Step Guide">
            <a:extLst>
              <a:ext uri="{FF2B5EF4-FFF2-40B4-BE49-F238E27FC236}">
                <a16:creationId xmlns:a16="http://schemas.microsoft.com/office/drawing/2014/main" id="{8E5E5E05-AB09-3070-58F7-F27577A96A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500"/>
          <a:stretch>
            <a:fillRect/>
          </a:stretch>
        </p:blipFill>
        <p:spPr>
          <a:xfrm>
            <a:off x="7973123" y="1548467"/>
            <a:ext cx="4218877" cy="4718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65E0B3-8BD2-BA7E-9C57-C734F50CD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SEO 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656A-B63B-7AE1-4E41-E7385BE48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 are Keywords?</a:t>
            </a:r>
          </a:p>
          <a:p>
            <a:pPr marL="0" indent="0">
              <a:buNone/>
            </a:pPr>
            <a:r>
              <a:rPr lang="en-IN" b="1" dirty="0"/>
              <a:t>		Words users type into search engines.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User searches:</a:t>
            </a:r>
          </a:p>
          <a:p>
            <a:pPr marL="0" indent="0">
              <a:buNone/>
            </a:pPr>
            <a:r>
              <a:rPr lang="en-IN" dirty="0"/>
              <a:t>		Best pizza Mumbai</a:t>
            </a:r>
          </a:p>
          <a:p>
            <a:pPr marL="0" indent="0">
              <a:buNone/>
            </a:pPr>
            <a:r>
              <a:rPr lang="en-IN" dirty="0"/>
              <a:t>Keyword:</a:t>
            </a:r>
          </a:p>
          <a:p>
            <a:pPr marL="0" indent="0">
              <a:buNone/>
            </a:pPr>
            <a:r>
              <a:rPr lang="en-IN" dirty="0"/>
              <a:t>		Best pizza Mumbai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08097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reate a clean flat vector illustration explaining &quot;Social Bookmarking&quot; for SEO. Show a user saving and sharing a webpage to multiple social bookmarking platforms using bookmark icons. In the center, place a webpage with a prominent Bookmark symbol. From the webpage, arrows lead to several generic bookmarking cards labeled &quot;Save&quot;, &quot;Share&quot;, &quot;Discover&quot;, and &quot;Traffic&quot;. Other users are shown discovering and bookmarking the same page, with arrows returning to the website to represent referral traffic. Include subtle SEO elements like a search icon, website icon, and upward traffic graph. Use a white background, blue and orange accent colors, clean flat vector style, minimal text, and a professional PowerPoint-friendly design. Do not use brand logos or social media logos. Focus on the concept of">
            <a:extLst>
              <a:ext uri="{FF2B5EF4-FFF2-40B4-BE49-F238E27FC236}">
                <a16:creationId xmlns:a16="http://schemas.microsoft.com/office/drawing/2014/main" id="{03E19128-B68A-6CF5-5FD2-24CF4B9E40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861"/>
          <a:stretch>
            <a:fillRect/>
          </a:stretch>
        </p:blipFill>
        <p:spPr>
          <a:xfrm>
            <a:off x="7239000" y="2257235"/>
            <a:ext cx="4953000" cy="3919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3A1F34-F6F4-B55A-3489-E746A2B50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SEO Social Bookmarking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915BF-A33F-A37A-2325-19C96F58B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Saving and sharing website links on bookmarking platforms.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A user shares:</a:t>
            </a:r>
          </a:p>
          <a:p>
            <a:pPr marL="0" indent="0">
              <a:buNone/>
            </a:pPr>
            <a:r>
              <a:rPr lang="en-IN" dirty="0"/>
              <a:t>		Best Pizza Places Mumbai</a:t>
            </a:r>
          </a:p>
          <a:p>
            <a:pPr marL="0" indent="0">
              <a:buNone/>
            </a:pPr>
            <a:r>
              <a:rPr lang="en-IN" dirty="0"/>
              <a:t>Website Link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Benefits:</a:t>
            </a:r>
          </a:p>
          <a:p>
            <a:pPr marL="0" indent="0">
              <a:buNone/>
            </a:pPr>
            <a:r>
              <a:rPr lang="en-IN" dirty="0"/>
              <a:t>	More visibility</a:t>
            </a:r>
          </a:p>
          <a:p>
            <a:pPr marL="0" indent="0">
              <a:buNone/>
            </a:pPr>
            <a:r>
              <a:rPr lang="en-IN" dirty="0"/>
              <a:t>	More traffic</a:t>
            </a:r>
          </a:p>
        </p:txBody>
      </p:sp>
    </p:spTree>
    <p:extLst>
      <p:ext uri="{BB962C8B-B14F-4D97-AF65-F5344CB8AC3E}">
        <p14:creationId xmlns:p14="http://schemas.microsoft.com/office/powerpoint/2010/main" val="4149669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ocial Media Optimization (smo) Services at Best Price in Delhi | Howays  Web Solutions">
            <a:extLst>
              <a:ext uri="{FF2B5EF4-FFF2-40B4-BE49-F238E27FC236}">
                <a16:creationId xmlns:a16="http://schemas.microsoft.com/office/drawing/2014/main" id="{AFE7EA95-674C-233A-8990-49FB38F43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631" y="1426465"/>
            <a:ext cx="6451369" cy="32127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96CDB8-B0AA-6364-2B4E-550E0841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SEO Social Media </a:t>
            </a:r>
            <a:r>
              <a:rPr lang="es-ES" dirty="0" err="1"/>
              <a:t>Optimization</a:t>
            </a:r>
            <a:r>
              <a:rPr lang="es-ES" dirty="0"/>
              <a:t> (SMO)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B91EE-1604-9A86-A9EB-7DBDDA56D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Using social media platforms to promote websites.</a:t>
            </a:r>
          </a:p>
          <a:p>
            <a:r>
              <a:rPr lang="en-IN" dirty="0"/>
              <a:t>Platforms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Instagram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Facebook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YouTube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715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ow Do Backlinks Help SEO">
            <a:extLst>
              <a:ext uri="{FF2B5EF4-FFF2-40B4-BE49-F238E27FC236}">
                <a16:creationId xmlns:a16="http://schemas.microsoft.com/office/drawing/2014/main" id="{463C10EF-59C3-6D40-38B9-D3ABDB685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3795522"/>
            <a:ext cx="5810250" cy="2857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1A191C-D5F1-A869-4779-73A51EA7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SEO Backlinks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13E12-320F-7D91-D22E-EBBD291C7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 backlink is a link from another website pointing to your website.</a:t>
            </a:r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r>
              <a:rPr lang="en-IN" dirty="0"/>
              <a:t>				Food Blog</a:t>
            </a:r>
          </a:p>
          <a:p>
            <a:pPr marL="0" indent="0">
              <a:buNone/>
            </a:pPr>
            <a:r>
              <a:rPr lang="en-IN" dirty="0"/>
              <a:t>                    			        ↓</a:t>
            </a:r>
          </a:p>
          <a:p>
            <a:pPr marL="0" indent="0">
              <a:buNone/>
            </a:pPr>
            <a:r>
              <a:rPr lang="en-IN" dirty="0"/>
              <a:t>			Pizza Restaurant Website</a:t>
            </a:r>
          </a:p>
          <a:p>
            <a:endParaRPr lang="en-IN" dirty="0"/>
          </a:p>
          <a:p>
            <a:r>
              <a:rPr lang="en-IN" dirty="0"/>
              <a:t>Benefits:</a:t>
            </a:r>
          </a:p>
          <a:p>
            <a:pPr marL="0" indent="0">
              <a:buNone/>
            </a:pPr>
            <a:r>
              <a:rPr lang="en-IN" dirty="0"/>
              <a:t>	Builds trust</a:t>
            </a:r>
          </a:p>
          <a:p>
            <a:pPr marL="0" indent="0">
              <a:buNone/>
            </a:pPr>
            <a:r>
              <a:rPr lang="en-IN" dirty="0"/>
              <a:t>	Improves authority</a:t>
            </a:r>
          </a:p>
        </p:txBody>
      </p:sp>
    </p:spTree>
    <p:extLst>
      <p:ext uri="{BB962C8B-B14F-4D97-AF65-F5344CB8AC3E}">
        <p14:creationId xmlns:p14="http://schemas.microsoft.com/office/powerpoint/2010/main" val="3754615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ebsite Speed Optimization: Complete Guide">
            <a:extLst>
              <a:ext uri="{FF2B5EF4-FFF2-40B4-BE49-F238E27FC236}">
                <a16:creationId xmlns:a16="http://schemas.microsoft.com/office/drawing/2014/main" id="{200262AB-0E7E-867A-CACE-15CFC21343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244"/>
          <a:stretch>
            <a:fillRect/>
          </a:stretch>
        </p:blipFill>
        <p:spPr>
          <a:xfrm>
            <a:off x="7674395" y="210485"/>
            <a:ext cx="4415497" cy="21547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9AA779-F2AA-4988-6C6D-FF1D56325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Other Factors for SEO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7F9B-A6CC-E6F0-A63E-64A9B74E0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Website Speed</a:t>
            </a:r>
          </a:p>
          <a:p>
            <a:r>
              <a:rPr lang="en-IN" dirty="0"/>
              <a:t>Mobile Friendly Website</a:t>
            </a:r>
          </a:p>
          <a:p>
            <a:r>
              <a:rPr lang="en-IN" dirty="0"/>
              <a:t>Robots.txt</a:t>
            </a:r>
          </a:p>
        </p:txBody>
      </p:sp>
      <p:pic>
        <p:nvPicPr>
          <p:cNvPr id="4" name="Picture 3" descr="What is Robots.Txt File | Importance, Role, and Impact on SEO -  GeeksforGeeks">
            <a:extLst>
              <a:ext uri="{FF2B5EF4-FFF2-40B4-BE49-F238E27FC236}">
                <a16:creationId xmlns:a16="http://schemas.microsoft.com/office/drawing/2014/main" id="{95DF37D9-5DAD-8434-9CDB-2A70F0D2245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997"/>
          <a:stretch>
            <a:fillRect/>
          </a:stretch>
        </p:blipFill>
        <p:spPr>
          <a:xfrm>
            <a:off x="2945892" y="2880233"/>
            <a:ext cx="9144000" cy="397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172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31A9-0F66-7F75-5D40-C0DE1261C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Website Speed</a:t>
            </a:r>
            <a:br>
              <a:rPr lang="en-IN" dirty="0"/>
            </a:br>
            <a:r>
              <a:rPr lang="en-IN" sz="2800" dirty="0"/>
              <a:t>Fast websites provide better user experience.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63B12-0D3E-911E-9481-F87D93582A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Slow website:</a:t>
            </a:r>
          </a:p>
          <a:p>
            <a:pPr marL="0" indent="0">
              <a:buNone/>
            </a:pPr>
            <a:r>
              <a:rPr lang="en-IN" dirty="0"/>
              <a:t>User waits</a:t>
            </a:r>
          </a:p>
          <a:p>
            <a:pPr marL="0" indent="0">
              <a:buNone/>
            </a:pPr>
            <a:r>
              <a:rPr lang="en-IN" dirty="0"/>
              <a:t> ↓</a:t>
            </a:r>
          </a:p>
          <a:p>
            <a:pPr marL="0" indent="0">
              <a:buNone/>
            </a:pPr>
            <a:r>
              <a:rPr lang="en-IN" dirty="0"/>
              <a:t>Leaves website</a:t>
            </a:r>
          </a:p>
          <a:p>
            <a:pPr marL="0" indent="0">
              <a:buNone/>
            </a:pPr>
            <a:r>
              <a:rPr lang="en-IN" dirty="0"/>
              <a:t> ↓</a:t>
            </a:r>
          </a:p>
          <a:p>
            <a:pPr marL="0" indent="0">
              <a:buNone/>
            </a:pPr>
            <a:r>
              <a:rPr lang="en-IN" dirty="0"/>
              <a:t>Ranking decreases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C2224-FA91-FD20-6D2A-7F18CDFD49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Fast website:</a:t>
            </a:r>
          </a:p>
          <a:p>
            <a:pPr marL="0" indent="0">
              <a:buNone/>
            </a:pPr>
            <a:r>
              <a:rPr lang="en-IN" dirty="0"/>
              <a:t>Happy Users</a:t>
            </a:r>
          </a:p>
          <a:p>
            <a:pPr marL="0" indent="0">
              <a:buNone/>
            </a:pPr>
            <a:r>
              <a:rPr lang="en-IN" dirty="0"/>
              <a:t> ↓</a:t>
            </a:r>
          </a:p>
          <a:p>
            <a:pPr marL="0" indent="0">
              <a:buNone/>
            </a:pPr>
            <a:r>
              <a:rPr lang="en-IN" dirty="0"/>
              <a:t>Better Experience</a:t>
            </a:r>
          </a:p>
          <a:p>
            <a:pPr marL="0" indent="0">
              <a:buNone/>
            </a:pPr>
            <a:r>
              <a:rPr lang="en-IN" dirty="0"/>
              <a:t> ↓</a:t>
            </a:r>
          </a:p>
          <a:p>
            <a:pPr marL="0" indent="0">
              <a:buNone/>
            </a:pPr>
            <a:r>
              <a:rPr lang="en-IN" dirty="0"/>
              <a:t>Better Ranking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9992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CEA29-B71A-5D99-A2D3-43AC53DDB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Mobile Friendly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0F82D-2074-DAE5-21C9-83762A964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Most users search using mobile phones.</a:t>
            </a:r>
          </a:p>
          <a:p>
            <a:pPr marL="0" indent="0">
              <a:buNone/>
            </a:pPr>
            <a:r>
              <a:rPr lang="en-IN" dirty="0"/>
              <a:t>A mobile-friendly website:</a:t>
            </a:r>
          </a:p>
          <a:p>
            <a:pPr lvl="1"/>
            <a:r>
              <a:rPr lang="en-IN" dirty="0"/>
              <a:t>Adjusts screen size</a:t>
            </a:r>
          </a:p>
          <a:p>
            <a:pPr lvl="1"/>
            <a:r>
              <a:rPr lang="en-IN" dirty="0"/>
              <a:t>Easy navigation</a:t>
            </a:r>
          </a:p>
          <a:p>
            <a:pPr lvl="1"/>
            <a:r>
              <a:rPr lang="en-IN" dirty="0"/>
              <a:t>Fast loading</a:t>
            </a:r>
          </a:p>
          <a:p>
            <a:endParaRPr lang="en-IN" dirty="0"/>
          </a:p>
        </p:txBody>
      </p:sp>
      <p:pic>
        <p:nvPicPr>
          <p:cNvPr id="4" name="Picture 3" descr="Mobile-friendly Website Design and Why It Matters - MBB">
            <a:extLst>
              <a:ext uri="{FF2B5EF4-FFF2-40B4-BE49-F238E27FC236}">
                <a16:creationId xmlns:a16="http://schemas.microsoft.com/office/drawing/2014/main" id="{80056D90-7A13-F0F3-4471-EB7A883C6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52" y="2000802"/>
            <a:ext cx="5565648" cy="456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153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Ultimate Guide To Use Robots.txt File - Digital Links">
            <a:extLst>
              <a:ext uri="{FF2B5EF4-FFF2-40B4-BE49-F238E27FC236}">
                <a16:creationId xmlns:a16="http://schemas.microsoft.com/office/drawing/2014/main" id="{14ABA46A-A56C-7E38-B341-7573F2F0C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127738"/>
            <a:ext cx="9144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2C66F5-CF60-24CD-8979-C23033CC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Robots.txt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7D561-6515-9004-C59D-FB5362654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35769" cy="4351338"/>
          </a:xfrm>
        </p:spPr>
        <p:txBody>
          <a:bodyPr/>
          <a:lstStyle/>
          <a:p>
            <a:r>
              <a:rPr lang="en-IN" dirty="0"/>
              <a:t>Tells Search engine which pages you want to exclude from indexing.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3744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DB9D-63F6-2732-6113-836269EE9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SEO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10EB4-2E7A-80E1-743A-BB17C29E3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SEO audit is checking website performance and SEO health.</a:t>
            </a:r>
          </a:p>
          <a:p>
            <a:r>
              <a:rPr lang="en-IN" dirty="0"/>
              <a:t>It checks: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dirty="0"/>
              <a:t> Title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dirty="0"/>
              <a:t> Meta Description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dirty="0"/>
              <a:t> Keywords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dirty="0"/>
              <a:t> Content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dirty="0"/>
              <a:t> Speed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dirty="0"/>
              <a:t> Mobile Friendly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dirty="0"/>
              <a:t> Backlinks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IN" dirty="0"/>
              <a:t> Technical errors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598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760</Words>
  <Application>Microsoft Office PowerPoint</Application>
  <PresentationFormat>Widescreen</PresentationFormat>
  <Paragraphs>190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Courier New</vt:lpstr>
      <vt:lpstr>Times New Roman</vt:lpstr>
      <vt:lpstr>Wingdings</vt:lpstr>
      <vt:lpstr>Office Theme</vt:lpstr>
      <vt:lpstr> Search Engine Optimization</vt:lpstr>
      <vt:lpstr>    What is SEO?</vt:lpstr>
      <vt:lpstr>              Types of </vt:lpstr>
      <vt:lpstr>On-Page SEO</vt:lpstr>
      <vt:lpstr>Off - page SEO</vt:lpstr>
      <vt:lpstr>Techniques OF SEO</vt:lpstr>
      <vt:lpstr>Optimizing Website</vt:lpstr>
      <vt:lpstr>SEO Page Structure Optimization</vt:lpstr>
      <vt:lpstr>Title Tag</vt:lpstr>
      <vt:lpstr>Meta Description Tag</vt:lpstr>
      <vt:lpstr>Heading Tags</vt:lpstr>
      <vt:lpstr>Image Tag with ALT Attribute</vt:lpstr>
      <vt:lpstr>SEO Keywords</vt:lpstr>
      <vt:lpstr>SEO Social Bookmarking</vt:lpstr>
      <vt:lpstr>SEO Social Media Optimization (SMO)</vt:lpstr>
      <vt:lpstr>SEO Backlinks</vt:lpstr>
      <vt:lpstr>Other Factors for SEO</vt:lpstr>
      <vt:lpstr>Website Speed Fast websites provide better user experience.</vt:lpstr>
      <vt:lpstr>Mobile Friendly Website</vt:lpstr>
      <vt:lpstr>Robots.txt</vt:lpstr>
      <vt:lpstr>SEO Audit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DPC 5</dc:creator>
  <cp:lastModifiedBy>DPC 5</cp:lastModifiedBy>
  <cp:revision>4</cp:revision>
  <dcterms:created xsi:type="dcterms:W3CDTF">2026-07-18T02:39:03Z</dcterms:created>
  <dcterms:modified xsi:type="dcterms:W3CDTF">2026-07-18T09:56:37Z</dcterms:modified>
</cp:coreProperties>
</file>