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8" r:id="rId4"/>
    <p:sldId id="259" r:id="rId5"/>
    <p:sldId id="257" r:id="rId6"/>
    <p:sldId id="260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69" r:id="rId15"/>
    <p:sldId id="271" r:id="rId16"/>
    <p:sldId id="272" r:id="rId17"/>
    <p:sldId id="274" r:id="rId18"/>
    <p:sldId id="273" r:id="rId19"/>
    <p:sldId id="275" r:id="rId20"/>
    <p:sldId id="278" r:id="rId21"/>
    <p:sldId id="277" r:id="rId22"/>
    <p:sldId id="276" r:id="rId23"/>
    <p:sldId id="279" r:id="rId24"/>
    <p:sldId id="282" r:id="rId25"/>
    <p:sldId id="281" r:id="rId26"/>
    <p:sldId id="283" r:id="rId27"/>
    <p:sldId id="284" r:id="rId28"/>
    <p:sldId id="285" r:id="rId29"/>
    <p:sldId id="286" r:id="rId30"/>
    <p:sldId id="289" r:id="rId31"/>
    <p:sldId id="290" r:id="rId32"/>
    <p:sldId id="291" r:id="rId33"/>
    <p:sldId id="292" r:id="rId34"/>
    <p:sldId id="293" r:id="rId35"/>
    <p:sldId id="296" r:id="rId36"/>
    <p:sldId id="294" r:id="rId37"/>
    <p:sldId id="295" r:id="rId38"/>
    <p:sldId id="297" r:id="rId39"/>
    <p:sldId id="298" r:id="rId40"/>
    <p:sldId id="299" r:id="rId41"/>
    <p:sldId id="287" r:id="rId42"/>
    <p:sldId id="288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272" autoAdjust="0"/>
  </p:normalViewPr>
  <p:slideViewPr>
    <p:cSldViewPr snapToGrid="0">
      <p:cViewPr>
        <p:scale>
          <a:sx n="75" d="100"/>
          <a:sy n="75" d="100"/>
        </p:scale>
        <p:origin x="1134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1T06:28:50.4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8248 158 24575,'0'0'0,"0"-1"0,0 1 0,-1 0 0,1-1 0,0 1 0,0 0 0,0 0 0,0-1 0,0 1 0,0 0 0,0-1 0,0 1 0,0 0 0,0-1 0,0 1 0,0 0 0,0-1 0,0 1 0,0 0 0,0-1 0,0 1 0,0 0 0,0-1 0,1 1 0,-1 0 0,0 0 0,0-1 0,0 1 0,0 0 0,1-1 0,-1 1 0,0 0 0,0 0 0,1 0 0,-1-1 0,0 1 0,0 0 0,1 0 0,-1 0 0,0 0 0,1-1 0,-1 1 0,0 0 0,1 0 0,-1 0 0,0 0 0,1 0 0,-1 0 0,0 0 0,0 0 0,1 0 0,-1 0 0,0 0 0,1 0 0,-1 0 0,0 0 0,1 0 0,-1 0 0,0 1 0,1-1 0,-1 0 0,1 0 0,12 20 0,-10 1 0,0 1 0,-2 0 0,0-1 0,-2 1 0,0 0 0,-2 0 0,0-1 0,-1 0 0,-1 1 0,-1-1 0,-12 27 0,5-22 0,-28 44 0,27-48 0,1 0 0,-17 39 0,30-61 0,0 1 0,0 0 0,0-1 0,0 1 0,0 0 0,-1 0 0,1-1 0,0 1 0,0 0 0,-1-1 0,1 1 0,-1-1 0,1 1 0,0 0 0,-1-1 0,1 1 0,-1-1 0,1 1 0,-1-1 0,0 0 0,1 1 0,-1-1 0,1 1 0,-1-1 0,0 0 0,1 1 0,-1-1 0,-1 0 0,-8-16 0,-2-45 0,10 52 0,-29-299 0,32 332 0,-1 58 0,0-78 0,0 0 0,-1-1 0,1 1 0,-1 0 0,0-1 0,0 1 0,0-1 0,0 1 0,-1-1 0,0 0 0,1 1 0,-1-1 0,0 0 0,-1 0 0,1-1 0,0 1 0,-6 4 0,8-6 0,-1-1 0,1 0 0,0 0 0,-1 1 0,1-1 0,-1 0 0,1 0 0,0 0 0,-1 0 0,1 1 0,-1-1 0,1 0 0,-1 0 0,1 0 0,-1 0 0,1 0 0,-1 0 0,1 0 0,-1 0 0,1 0 0,0-1 0,-1 1 0,1 0 0,-1 0 0,1 0 0,-1 0 0,1-1 0,0 1 0,-1 0 0,1 0 0,-1-1 0,1 1 0,0 0 0,-1-1 0,-8-20 0,2-27 0,7 46 0,-2-281 0,2 277 0,0 1 0,-1-1 0,0 1 0,0 0 0,-1-1 0,1 1 0,-1 0 0,0 0 0,0 0 0,-1 0 0,-3-4 0,5 7 0,0 0 0,-1 0 0,1 1 0,-1-1 0,0 1 0,1 0 0,-1-1 0,0 1 0,0 0 0,0 0 0,0 0 0,0 0 0,0 0 0,0 0 0,0 1 0,0-1 0,0 1 0,0 0 0,0-1 0,-1 1 0,1 0 0,0 0 0,0 0 0,0 1 0,0-1 0,-1 0 0,1 1 0,0 0 0,-4 1 0,-4 2 0,1 1 0,-1 1 0,1 0 0,0 0 0,0 1 0,0 0 0,1 0 0,0 1 0,-9 13 0,-62 87 0,68-91 0,-5 8 0,9-13 0,0 0 0,-1-1 0,-1 1 0,0-2 0,-16 16 0,23-25 0,0 1 0,0 0 0,0-1 0,-1 1 0,1-1 0,-1 0 0,1 0 0,-1 0 0,1 0 0,-1 0 0,0-1 0,1 1 0,-1-1 0,0 1 0,0-1 0,1 0 0,-1 0 0,0-1 0,0 1 0,1 0 0,-1-1 0,0 0 0,1 0 0,-1 1 0,0-1 0,1-1 0,-1 1 0,1 0 0,0-1 0,-1 1 0,1-1 0,0 0 0,-3-3 0,-11-10 0,2-1 0,0 0 0,0-1 0,-10-20 0,14 22 0,1 1 0,-2 0 0,0 0 0,0 1 0,-1 0 0,-1 1 0,-15-11 0,24 21 0,1 0 0,0 0 0,-1 1 0,0-1 0,1 1 0,-1 0 0,0 0 0,0 0 0,0 0 0,0 1 0,0 0 0,0-1 0,1 2 0,-1-1 0,0 0 0,0 1 0,0-1 0,0 1 0,0 0 0,1 1 0,-1-1 0,0 1 0,1-1 0,-1 1 0,1 0 0,0 0 0,-1 1 0,1-1 0,0 1 0,0-1 0,-3 6 0,-10 9 0,0 1 0,2 1 0,0 0 0,-12 24 0,14-22 0,-2 2 0,11-16 0,-1 0 0,0 0 0,0 0 0,-1 0 0,0 0 0,0-1 0,-1 0 0,1 0 0,-2 0 0,-8 6 0,14-12 0,1 1 0,0-1 0,-1 0 0,1 0 0,-1 0 0,1 0 0,0 0 0,-1 0 0,1 1 0,0-1 0,-1 0 0,1 0 0,-1 0 0,1 0 0,0 0 0,-1-1 0,1 1 0,-1 0 0,1 0 0,0 0 0,-1 0 0,1 0 0,0 0 0,-1-1 0,1 1 0,0 0 0,-1 0 0,1 0 0,0-1 0,-1 1 0,1 0 0,0-1 0,0 1 0,-1 0 0,1-1 0,0 1 0,0 0 0,-1-1 0,-2-21 0,6-19 0,5 4 0,-4 22 0,-1 0 0,-1-1 0,0 1 0,0-31 0,-3 42 0,1 1 0,0 0 0,-1-1 0,0 1 0,0 0 0,0 0 0,0 0 0,0-1 0,-1 1 0,1 0 0,-1 1 0,0-1 0,0 0 0,0 0 0,0 1 0,0-1 0,-1 1 0,1 0 0,-1 0 0,0 0 0,1 0 0,-1 0 0,0 0 0,0 1 0,0-1 0,0 1 0,-1 0 0,-3-1 0,-6-1 0,-1 0 0,0 1 0,0 1 0,0 0 0,0 1 0,0 1 0,0 0 0,-25 5 0,-8 6 0,-57 21 0,68-19 0,-1-2 0,-61 11 0,13-16 0,-164-8 0,107-3 0,-418 4 0,732 14 0,-27-1 0,200 16 0,-66-5 0,942 89 0,-1179-107 0,68 19 0,-109-25 0,1 0 0,-1 0 0,0 1 0,0-1 0,0 0 0,1 1 0,-1-1 0,0 1 0,0-1 0,0 1 0,0 0 0,0-1 0,0 1 0,0 0 0,0 0 0,0-1 0,-1 1 0,1 0 0,1 1 0,-17 6 0,-41-3 0,-679-4 0,317-4 0,-4105 3 0,4482 2 0,-71 12 0,70-7 0,-64 3 0,7-9 0,-201-4 0,110-27 0,139 24 0,-52-12 0,73 12 0,16 2 0,-1-1 0,1-1 0,0 0 0,1 0 0,0-2 0,-14-9 0,-32-16 0,-54-32 0,90 50 0,12 10 0,0 0 0,-1 0 0,1 1 0,-1 0 0,-19-3 0,-21-7 0,17 3 0,-1 2 0,0 1 0,0 1 0,0 2 0,-1 2 0,1 1 0,-66 6 0,95-4 0,1 1 0,0 0 0,0 0 0,0 0 0,0 1 0,0 0 0,0 0 0,1 1 0,-1-1 0,1 1 0,-1 0 0,1 1 0,0-1 0,0 1 0,1 0 0,-1 1 0,1-1 0,0 1 0,-6 7 0,4 0 0,0-1 0,0 2 0,1-1 0,0 0 0,1 1 0,1 0 0,0 0 0,-1 14 0,3-24 0,-1 10 0,0 0 0,1 0 0,0 1 0,1-1 0,1 15 0,0-25 0,-1 0 0,1 0 0,0 0 0,0 0 0,0-1 0,0 1 0,0 0 0,0-1 0,1 1 0,-1 0 0,1-1 0,0 0 0,0 1 0,0-1 0,0 0 0,0 0 0,0 0 0,1 0 0,-1 0 0,1-1 0,-1 1 0,1-1 0,-1 0 0,1 0 0,0 1 0,0-2 0,0 1 0,5 1 0,4-1 0,0 0 0,0-1 0,0 0 0,-1 0 0,1-2 0,0 1 0,0-1 0,-1-1 0,13-4 0,11-6 0,52-27 0,-81 37 0,1-1 0,-1 1 0,-1-1 0,1-1 0,-1 1 0,1-1 0,-1 0 0,-1 0 0,9-12 0,-12 16 0,0-1 0,-1 1 0,1-1 0,0 1 0,0-1 0,-1 1 0,1-1 0,-1 0 0,0 1 0,1-1 0,-1 0 0,0 0 0,0 1 0,0-1 0,0 0 0,0 1 0,0-1 0,-1 0 0,1 0 0,-1 1 0,1-1 0,-1 0 0,0 1 0,1-1 0,-1 1 0,0-1 0,0 1 0,0-1 0,0 1 0,0 0 0,0 0 0,-1-1 0,1 1 0,0 0 0,-1 0 0,1 0 0,0 0 0,-1 0 0,0 1 0,1-1 0,-1 0 0,1 1 0,-1-1 0,0 1 0,-2-1 0,-11-3 0,-2 0 0,1 1 0,0 0 0,-1 2 0,1 0 0,-1 1 0,1 0 0,-19 4 0,-55-2 0,85-3 0,0 0 0,0-1 0,0 1 0,0-1 0,0 0 0,1-1 0,-1 1 0,0-1 0,1 0 0,0 0 0,0 0 0,0-1 0,0 1 0,-4-5 0,3 3 0,0 0 0,0 0 0,-1 1 0,1 0 0,-1 0 0,0 0 0,-11-4 0,9 5 0,-16-4 0,21 4 0,15 2 0,1083 4 0,-1048-5 0,0-3 0,86-20 0,-87 15 0,1 1 0,0 3 0,49-1 0,99 10 0,228-5 0,-269-12 0,48-2 0,1004 14 0,-582 5 0,436-3 0,-1015 2 17,-1 2 1,0 2-1,0 2 0,0 2 0,54 20 1,205 93-1044,-267-107 583,83 37-6383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11T07:23:29.286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11T07:23:29.795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11T07:23:31.026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11T07:23:35.918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11T08:47:01.827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1 0,'0'0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BC59-C68B-318F-C24C-C6C1997D3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711826-D5BB-CBED-0B46-C6B6775455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EE80C-1099-E5EB-F3A3-4D783A689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F6E56-9E0D-447D-AC6B-9975879024CC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EEE31-3833-0512-A1E5-10CDF448B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D039B-0B4E-0286-1A2F-778EAC215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ED1C4-A21F-4076-AE65-086C89D6E7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177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9D7B2-1A0A-1492-F96B-50AA9FA61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C045B-B0C8-3796-2ECA-A3D8B0494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9B6F7-D914-7F19-F24B-93A6314A8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F6E56-9E0D-447D-AC6B-9975879024CC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DC485-6349-45D6-109B-0F79F66A5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3CBE9-6D9C-A5A5-8B5B-7F98798CD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ED1C4-A21F-4076-AE65-086C89D6E7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960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23037-DF3C-0E98-40BD-4E542E8DE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D81534-43EB-2AA2-81E6-B7DDB23A1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504C6-4DA1-C8AD-35EF-3C498AEC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F6E56-9E0D-447D-AC6B-9975879024CC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E9E92-FA3D-346E-E3C2-94E092813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0E753-83EC-339C-506D-79EA1F480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ED1C4-A21F-4076-AE65-086C89D6E7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6090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2A13A-CEDC-EEE2-4B38-A1EE73FEC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DACFC-FC6A-9A9C-A5E7-98CD4AE509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B4ED74-DF92-C996-381C-A99407AF86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B2A41F-CB4D-DD30-FDF4-EAEF395ED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F6E56-9E0D-447D-AC6B-9975879024CC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0AF68A-B826-C22F-9BC9-1B2658890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9B4989-4409-3050-1406-208C7F773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ED1C4-A21F-4076-AE65-086C89D6E7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2870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7BB71-543C-97DF-8786-840F26009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ADF7B9-F6AB-A0FB-7F17-DE4302E91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5585EC-E45A-E12E-1808-55EC231A11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8DEC08-5236-012C-A603-C8ED9FEEA2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6719D2-0B24-380E-25F2-CA983B38A6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4E94F0-6129-5A25-57F9-6FA609773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F6E56-9E0D-447D-AC6B-9975879024CC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131F73-58D4-74D4-5CCF-E4A2F784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F12DB8-BDDD-82FA-01A8-E3312E2DB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ED1C4-A21F-4076-AE65-086C89D6E7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956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9E65F-A111-0D52-2F90-8D1931862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DEF35E-0A63-0FCF-7899-9C4962CAA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F6E56-9E0D-447D-AC6B-9975879024CC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C39E1D-66D2-1D77-472B-8FFA2B369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7293AE-6808-20F3-EFCE-3BD22A02F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ED1C4-A21F-4076-AE65-086C89D6E7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272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B8FDE6-CC68-F665-E865-8046E3801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F6E56-9E0D-447D-AC6B-9975879024CC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5C34CF-6E31-07D9-A241-6BFBDEF19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EBDFED-6DDC-6730-5D88-176987528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ED1C4-A21F-4076-AE65-086C89D6E7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251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6FB86-82B2-125A-3A5B-5D6990EC1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A8E5E-E2E4-A07E-4EB6-E9C5CC4C8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E9739E-0DC4-2A26-C958-8CB1E9D0C9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19E95B-DA92-4505-C37D-95952BC76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F6E56-9E0D-447D-AC6B-9975879024CC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FE3763-347D-0DB9-B99A-5390E979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57DF1F-0CB6-7488-B5CC-9F25814A2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ED1C4-A21F-4076-AE65-086C89D6E7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4762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25F16-01A6-A95C-118B-9FF34364B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5E2ECD-E61C-8D91-4087-A2C1FB3590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E86629-F70D-022B-3800-29AA4B3765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04589F-81CB-559D-4421-F7327464C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F6E56-9E0D-447D-AC6B-9975879024CC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A93491-606C-B764-2FCB-D9BE23F6A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F3F782-F70E-CE36-1195-F14132CEF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ED1C4-A21F-4076-AE65-086C89D6E7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872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3E150-9DA0-6672-0F38-42B89510E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E0D414-5EF1-ED23-EA2F-2A16388F4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D1E3B-54B0-EA4F-9D5E-D117B0987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F6E56-9E0D-447D-AC6B-9975879024CC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14169-2AD0-A7A9-BB28-227932762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E9BEF-B908-7865-969E-BDB3DF51B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ED1C4-A21F-4076-AE65-086C89D6E7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457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FABFA7-44BE-A1C4-314B-3CC651A31F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625A8-3C4F-16EE-B40A-B71BC0099A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0B5E1-1D1A-4875-C552-3F1B5C1FC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F6E56-9E0D-447D-AC6B-9975879024CC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C635F-B998-105E-2429-F43A3E5B6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D52E2-6EB5-9CA4-FE37-05577E99F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ED1C4-A21F-4076-AE65-086C89D6E7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602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07A4BA-7DDA-E2FB-3681-580728F3A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A1E46E-D61C-2447-18CC-7D16C0098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5A6BE-22B1-44B5-83D6-7BA1B4F05A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7F6E56-9E0D-447D-AC6B-9975879024CC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30655-F6AB-9FAB-B6B3-203609AABC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8465A-FD6B-30C0-3167-77D7D11AA2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9ED1C4-A21F-4076-AE65-086C89D6E7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840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ref/pr_text_color.php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w3schools.com/cssref/pr_text_text-align.php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22.png"/><Relationship Id="rId4" Type="http://schemas.openxmlformats.org/officeDocument/2006/relationships/customXml" Target="../ink/ink3.xml"/><Relationship Id="rId9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gi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157C4-4F49-6CB2-9197-9136A8B1BD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20461"/>
            <a:ext cx="9144000" cy="1242647"/>
          </a:xfrm>
        </p:spPr>
        <p:txBody>
          <a:bodyPr>
            <a:noAutofit/>
          </a:bodyPr>
          <a:lstStyle/>
          <a:p>
            <a:r>
              <a:rPr lang="en-IN" sz="9600" dirty="0">
                <a:latin typeface="Algerian" panose="04020705040A02060702" pitchFamily="82" charset="0"/>
              </a:rPr>
              <a:t>CSS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F6F286-C241-5668-A1D5-B99CE569353D}"/>
              </a:ext>
            </a:extLst>
          </p:cNvPr>
          <p:cNvSpPr txBox="1"/>
          <p:nvPr/>
        </p:nvSpPr>
        <p:spPr>
          <a:xfrm>
            <a:off x="8355051" y="5664149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Instructor Name: </a:t>
            </a:r>
            <a:r>
              <a:rPr lang="en-IN" dirty="0" err="1"/>
              <a:t>Moresh</a:t>
            </a:r>
            <a:r>
              <a:rPr lang="en-IN" dirty="0"/>
              <a:t> Londe</a:t>
            </a:r>
          </a:p>
        </p:txBody>
      </p:sp>
    </p:spTree>
    <p:extLst>
      <p:ext uri="{BB962C8B-B14F-4D97-AF65-F5344CB8AC3E}">
        <p14:creationId xmlns:p14="http://schemas.microsoft.com/office/powerpoint/2010/main" val="111063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7C1E5815-D54C-487F-A054-6D4930ADE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Top Differences Between HTML And CSS">
            <a:extLst>
              <a:ext uri="{FF2B5EF4-FFF2-40B4-BE49-F238E27FC236}">
                <a16:creationId xmlns:a16="http://schemas.microsoft.com/office/drawing/2014/main" id="{104362BA-FAFE-0C21-550F-5511A8810D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277" t="2" r="11551" b="-3"/>
          <a:stretch>
            <a:fillRect/>
          </a:stretch>
        </p:blipFill>
        <p:spPr>
          <a:xfrm>
            <a:off x="1387179" y="830245"/>
            <a:ext cx="8671221" cy="5197509"/>
          </a:xfrm>
          <a:prstGeom prst="rect">
            <a:avLst/>
          </a:prstGeom>
        </p:spPr>
      </p:pic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173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342934-D1D0-4827-46F2-A578DE880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99" y="509180"/>
            <a:ext cx="9783540" cy="58396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98416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9C39BF-6DDE-2360-8D6E-8E56474AF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124" y="552048"/>
            <a:ext cx="9859751" cy="575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01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C7335-B18F-96FE-C709-9D5696DCA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Cascading Style Sheets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AA5E6-866B-F0D8-7D21-74F90ACF1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is the </a:t>
            </a:r>
            <a:r>
              <a:rPr lang="en-IN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styling language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stands for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Cascading Style Sheets.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describes how HTML elements are to be displayed on screen, paper, or in other media.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saves a lot of work. It can control the layout of multiple web pages all at once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200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22923-2664-0795-136C-FC7A1AFE3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</a:rPr>
              <a:t>CSS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B0568-4535-F07B-AB47-B8D531341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8831"/>
            <a:ext cx="10515600" cy="468813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CSS rule consists of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points to the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element you want to style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declaration block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one or more declarations separated by </a:t>
            </a:r>
            <a:r>
              <a:rPr lang="en-IN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semicolons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IN" dirty="0"/>
              <a:t>efines </a:t>
            </a:r>
            <a:r>
              <a:rPr lang="en-IN" i="1" dirty="0"/>
              <a:t>what you want to change</a:t>
            </a:r>
            <a:r>
              <a:rPr lang="en-IN" dirty="0"/>
              <a:t>.</a:t>
            </a:r>
          </a:p>
          <a:p>
            <a:r>
              <a:rPr lang="en-IN" b="1" i="1" u="sng" dirty="0"/>
              <a:t>Value</a:t>
            </a:r>
            <a:r>
              <a:rPr lang="en-IN" dirty="0"/>
              <a:t> specifies the </a:t>
            </a:r>
            <a:r>
              <a:rPr lang="en-IN" i="1" dirty="0"/>
              <a:t>setting</a:t>
            </a:r>
            <a:r>
              <a:rPr lang="en-IN" dirty="0"/>
              <a:t> of the property.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CSS selector">
            <a:extLst>
              <a:ext uri="{FF2B5EF4-FFF2-40B4-BE49-F238E27FC236}">
                <a16:creationId xmlns:a16="http://schemas.microsoft.com/office/drawing/2014/main" id="{4512DAFB-97CF-4B35-E3A7-2ABB24991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998" y="2233613"/>
            <a:ext cx="5419725" cy="11334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72337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C6E7D1-A84A-9ADD-4F31-2F151D674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39969"/>
            <a:ext cx="5157787" cy="584969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&lt;!DOCTYPE html&gt;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&lt;head&gt;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&lt;style&gt;</a:t>
            </a:r>
          </a:p>
          <a:p>
            <a:pPr marL="0" indent="0">
              <a:buNone/>
            </a:pPr>
            <a:r>
              <a:rPr lang="en-IN" b="1" i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>
              <a:buNone/>
            </a:pP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b="1" i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text-align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&lt;/style&gt;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&lt;/head&gt;</a:t>
            </a:r>
          </a:p>
          <a:p>
            <a:pPr marL="0" indent="0">
              <a:buNone/>
            </a:pP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</a:p>
          <a:p>
            <a:pPr marL="0" indent="0">
              <a:buNone/>
            </a:pP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&lt;p&gt;Hello World!&lt;/p&gt;</a:t>
            </a:r>
          </a:p>
          <a:p>
            <a:pPr marL="0" indent="0">
              <a:buNone/>
            </a:pP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&lt;p&gt;These paragraphs are styled with CSS.&lt;/p&gt;</a:t>
            </a:r>
          </a:p>
          <a:p>
            <a:pPr marL="0" indent="0">
              <a:buNone/>
            </a:pP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328337A-6BC9-5C1F-C98E-FAD5391FD80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344870" y="4507353"/>
            <a:ext cx="5183188" cy="135154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34CB5D-3897-D43C-CA3F-5F06DE600E1D}"/>
              </a:ext>
            </a:extLst>
          </p:cNvPr>
          <p:cNvSpPr txBox="1"/>
          <p:nvPr/>
        </p:nvSpPr>
        <p:spPr>
          <a:xfrm>
            <a:off x="6194427" y="999099"/>
            <a:ext cx="57513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/>
            <a:r>
              <a:rPr lang="en-IN" sz="2400" b="0" i="0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 a </a:t>
            </a:r>
            <a:r>
              <a:rPr lang="en-IN" sz="2400" b="0" i="0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selector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CSS (it points to the HTML element you want to style: &lt;p&gt;).</a:t>
            </a:r>
          </a:p>
          <a:p>
            <a:pPr indent="0" algn="l"/>
            <a:r>
              <a:rPr lang="en-IN" sz="2400" b="0" i="0" dirty="0" err="1"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color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 a property, and </a:t>
            </a:r>
            <a:r>
              <a:rPr lang="en-IN" sz="2400" b="0" i="0" dirty="0"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 the property value</a:t>
            </a:r>
          </a:p>
          <a:p>
            <a:pPr indent="0" algn="l"/>
            <a:r>
              <a:rPr lang="en-IN" sz="2400" b="0" i="0" dirty="0"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text-align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 a property, and </a:t>
            </a:r>
            <a:r>
              <a:rPr lang="en-IN" sz="2400" b="0" i="0" dirty="0" err="1"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 the property value</a:t>
            </a:r>
          </a:p>
        </p:txBody>
      </p:sp>
    </p:spTree>
    <p:extLst>
      <p:ext uri="{BB962C8B-B14F-4D97-AF65-F5344CB8AC3E}">
        <p14:creationId xmlns:p14="http://schemas.microsoft.com/office/powerpoint/2010/main" val="438391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owchart: Document 10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23534D-B70E-3D8B-4847-AB003C7B1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Types of CSS</a:t>
            </a:r>
          </a:p>
        </p:txBody>
      </p:sp>
      <p:pic>
        <p:nvPicPr>
          <p:cNvPr id="6" name="Content Placeholder 5" descr="CSS">
            <a:extLst>
              <a:ext uri="{FF2B5EF4-FFF2-40B4-BE49-F238E27FC236}">
                <a16:creationId xmlns:a16="http://schemas.microsoft.com/office/drawing/2014/main" id="{11083D42-FC7F-91E0-1136-00D95A4A4E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30643" y="640080"/>
            <a:ext cx="6502116" cy="557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030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1A13C-6954-BE0B-2A48-C95FC3056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Inline CSS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844D0-08F7-2E65-DA60-6BFD5632C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46" y="1910861"/>
            <a:ext cx="10515600" cy="4351338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inline style may be used to apply a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style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element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&lt;!DOCTYPE html&gt;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&lt;h1&gt;Inline CSS&lt;/h1&gt;</a:t>
            </a:r>
          </a:p>
          <a:p>
            <a:pPr marL="0" indent="0">
              <a:buNone/>
            </a:pP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&lt;h3 style="</a:t>
            </a:r>
            <a:r>
              <a:rPr lang="en-IN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color:blue;text-align:center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;"&gt;This is a heading&lt;/h3&gt;</a:t>
            </a:r>
          </a:p>
          <a:p>
            <a:pPr marL="0" indent="0">
              <a:buNone/>
            </a:pP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&lt;p style="</a:t>
            </a:r>
            <a:r>
              <a:rPr lang="en-IN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color:red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;"&gt;This is a paragraph.&lt;/p&gt;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47FC85-8A72-62AC-69A8-E10F855D88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87" t="11250" r="29927" b="12035"/>
          <a:stretch>
            <a:fillRect/>
          </a:stretch>
        </p:blipFill>
        <p:spPr>
          <a:xfrm>
            <a:off x="7643447" y="4947139"/>
            <a:ext cx="4384430" cy="17174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F5687C-D68E-3D99-0A17-AEE336F6398B}"/>
              </a:ext>
            </a:extLst>
          </p:cNvPr>
          <p:cNvSpPr txBox="1"/>
          <p:nvPr/>
        </p:nvSpPr>
        <p:spPr>
          <a:xfrm>
            <a:off x="4783015" y="365125"/>
            <a:ext cx="6570785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i="1" u="sng" dirty="0">
                <a:highlight>
                  <a:srgbClr val="FFFF00"/>
                </a:highlight>
              </a:rPr>
              <a:t>Syntax</a:t>
            </a:r>
            <a:endParaRPr lang="en-IN" i="1" u="sng" dirty="0">
              <a:highlight>
                <a:srgbClr val="FFFF00"/>
              </a:highlight>
            </a:endParaRPr>
          </a:p>
          <a:p>
            <a:endParaRPr lang="en-IN" b="1" dirty="0"/>
          </a:p>
          <a:p>
            <a:r>
              <a:rPr lang="en-IN" dirty="0"/>
              <a:t>	</a:t>
            </a:r>
            <a:r>
              <a:rPr lang="en-IN" sz="3200" b="1" i="1" dirty="0"/>
              <a:t>&lt;tag style="</a:t>
            </a:r>
            <a:r>
              <a:rPr lang="en-IN" sz="3200" b="1" i="1" dirty="0" err="1"/>
              <a:t>property:value</a:t>
            </a:r>
            <a:r>
              <a:rPr lang="en-IN" sz="3200" b="1" i="1" dirty="0"/>
              <a:t>;"&gt;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5785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13530-0D92-FA0F-BC3C-4D9411D8C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Internal CSS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D08A8-981F-7768-2BE0-84B45119F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Also known as </a:t>
            </a:r>
            <a:r>
              <a:rPr lang="en-IN" b="1" dirty="0"/>
              <a:t>Embedded Stylesheet</a:t>
            </a:r>
            <a:r>
              <a:rPr lang="en-IN" dirty="0"/>
              <a:t>. </a:t>
            </a:r>
          </a:p>
          <a:p>
            <a:r>
              <a:rPr lang="en-IN" dirty="0"/>
              <a:t>CSS is written inside the </a:t>
            </a:r>
            <a:r>
              <a:rPr lang="en-IN" b="1" i="1" dirty="0"/>
              <a:t>&lt;style&gt; </a:t>
            </a:r>
            <a:r>
              <a:rPr lang="en-IN" dirty="0"/>
              <a:t>tag. </a:t>
            </a:r>
          </a:p>
          <a:p>
            <a:r>
              <a:rPr lang="en-IN" dirty="0"/>
              <a:t>The </a:t>
            </a:r>
            <a:r>
              <a:rPr lang="en-IN" b="1" i="1" dirty="0"/>
              <a:t>&lt;style&gt; tag </a:t>
            </a:r>
            <a:r>
              <a:rPr lang="en-IN" dirty="0"/>
              <a:t>is placed inside the </a:t>
            </a:r>
            <a:r>
              <a:rPr lang="en-IN" b="1" i="1" dirty="0"/>
              <a:t>&lt;head&gt; section </a:t>
            </a:r>
            <a:r>
              <a:rPr lang="en-IN" dirty="0"/>
              <a:t>of the HTML document. </a:t>
            </a:r>
          </a:p>
          <a:p>
            <a:r>
              <a:rPr lang="en-IN" dirty="0"/>
              <a:t>It applies styles to </a:t>
            </a:r>
            <a:r>
              <a:rPr lang="en-IN" b="1" dirty="0"/>
              <a:t>only that single HTML page</a:t>
            </a:r>
            <a:r>
              <a:rPr lang="en-IN" dirty="0"/>
              <a:t>. </a:t>
            </a:r>
          </a:p>
          <a:p>
            <a:r>
              <a:rPr lang="en-IN" dirty="0"/>
              <a:t>Best suited for </a:t>
            </a:r>
            <a:r>
              <a:rPr lang="en-IN" b="1" dirty="0"/>
              <a:t>small websites</a:t>
            </a:r>
            <a:r>
              <a:rPr lang="en-IN" dirty="0"/>
              <a:t> or </a:t>
            </a:r>
            <a:r>
              <a:rPr lang="en-IN" b="1" dirty="0"/>
              <a:t>single-page applications</a:t>
            </a:r>
            <a:r>
              <a:rPr lang="en-IN" dirty="0"/>
              <a:t>. Helps keep HTML cleaner than using inline CSS.</a:t>
            </a: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97775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CC2AB5-34F1-1C4F-D644-F79EB7E82D0D}"/>
              </a:ext>
            </a:extLst>
          </p:cNvPr>
          <p:cNvSpPr txBox="1"/>
          <p:nvPr/>
        </p:nvSpPr>
        <p:spPr>
          <a:xfrm>
            <a:off x="281353" y="394692"/>
            <a:ext cx="609600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&lt;!DOCTYPE html&gt;</a:t>
            </a:r>
          </a:p>
          <a:p>
            <a:r>
              <a:rPr lang="en-IN" dirty="0"/>
              <a:t>&lt;html&gt;</a:t>
            </a:r>
          </a:p>
          <a:p>
            <a:r>
              <a:rPr lang="en-IN" dirty="0"/>
              <a:t>&lt;head&gt;</a:t>
            </a:r>
          </a:p>
          <a:p>
            <a:r>
              <a:rPr lang="en-IN" dirty="0">
                <a:highlight>
                  <a:srgbClr val="FFFF00"/>
                </a:highlight>
              </a:rPr>
              <a:t>&lt;style&gt;</a:t>
            </a:r>
          </a:p>
          <a:p>
            <a:r>
              <a:rPr lang="en-IN" dirty="0"/>
              <a:t>	</a:t>
            </a:r>
            <a:r>
              <a:rPr lang="en-IN" b="1" i="1" dirty="0"/>
              <a:t>body {</a:t>
            </a:r>
          </a:p>
          <a:p>
            <a:r>
              <a:rPr lang="en-IN" b="1" i="1" dirty="0"/>
              <a:t>  		background-</a:t>
            </a:r>
            <a:r>
              <a:rPr lang="en-IN" b="1" i="1" dirty="0" err="1"/>
              <a:t>color</a:t>
            </a:r>
            <a:r>
              <a:rPr lang="en-IN" b="1" i="1" dirty="0"/>
              <a:t>: linen;</a:t>
            </a:r>
          </a:p>
          <a:p>
            <a:r>
              <a:rPr lang="en-IN" b="1" i="1" dirty="0"/>
              <a:t>	            }</a:t>
            </a:r>
          </a:p>
          <a:p>
            <a:endParaRPr lang="en-IN" b="1" i="1" dirty="0"/>
          </a:p>
          <a:p>
            <a:r>
              <a:rPr lang="en-IN" b="1" i="1" dirty="0"/>
              <a:t>	h1 {</a:t>
            </a:r>
          </a:p>
          <a:p>
            <a:r>
              <a:rPr lang="en-IN" b="1" i="1" dirty="0"/>
              <a:t>  		</a:t>
            </a:r>
            <a:r>
              <a:rPr lang="en-IN" b="1" i="1" dirty="0" err="1"/>
              <a:t>color</a:t>
            </a:r>
            <a:r>
              <a:rPr lang="en-IN" b="1" i="1" dirty="0"/>
              <a:t>: maroon;</a:t>
            </a:r>
          </a:p>
          <a:p>
            <a:r>
              <a:rPr lang="en-IN" b="1" i="1" dirty="0"/>
              <a:t> 		 margin-left: 40px;</a:t>
            </a:r>
          </a:p>
          <a:p>
            <a:r>
              <a:rPr lang="en-IN" b="1" i="1" dirty="0"/>
              <a:t>	      } </a:t>
            </a:r>
          </a:p>
          <a:p>
            <a:r>
              <a:rPr lang="en-IN" dirty="0">
                <a:highlight>
                  <a:srgbClr val="FFFF00"/>
                </a:highlight>
              </a:rPr>
              <a:t>&lt;/style&gt;</a:t>
            </a:r>
          </a:p>
          <a:p>
            <a:r>
              <a:rPr lang="en-IN" dirty="0"/>
              <a:t>&lt;/head&gt;</a:t>
            </a:r>
          </a:p>
          <a:p>
            <a:r>
              <a:rPr lang="en-IN" dirty="0"/>
              <a:t>&lt;body&gt;</a:t>
            </a:r>
          </a:p>
          <a:p>
            <a:endParaRPr lang="en-IN" dirty="0"/>
          </a:p>
          <a:p>
            <a:r>
              <a:rPr lang="en-IN" dirty="0"/>
              <a:t>	&lt;h1&gt;This is a heading&lt;/h1&gt;</a:t>
            </a:r>
          </a:p>
          <a:p>
            <a:r>
              <a:rPr lang="en-IN" dirty="0"/>
              <a:t>	&lt;p&gt;This is a paragraph.&lt;/p&gt;</a:t>
            </a:r>
          </a:p>
          <a:p>
            <a:endParaRPr lang="en-IN" dirty="0"/>
          </a:p>
          <a:p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A9D14D-BDF7-3275-FD81-37CA7C987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901" y="1581695"/>
            <a:ext cx="6239746" cy="26864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84828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652EEBE-859F-972C-6CB9-1193A954BF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767"/>
          <a:stretch>
            <a:fillRect/>
          </a:stretch>
        </p:blipFill>
        <p:spPr>
          <a:xfrm>
            <a:off x="193392" y="4045170"/>
            <a:ext cx="5515745" cy="213179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7BA289-057C-CFC4-189E-ED1E9D186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External CSS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A0702-275C-6F36-A66C-E7B6C8A1F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External CSS</a:t>
            </a:r>
            <a:r>
              <a:rPr lang="en-IN" dirty="0"/>
              <a:t> keeps your styling completely separate from your HTML</a:t>
            </a:r>
          </a:p>
          <a:p>
            <a:r>
              <a:rPr lang="en-IN" dirty="0"/>
              <a:t>Generally used when you want to make changes on multiple pages.</a:t>
            </a:r>
          </a:p>
          <a:p>
            <a:r>
              <a:rPr lang="en-IN" dirty="0"/>
              <a:t>Uses </a:t>
            </a:r>
            <a:r>
              <a:rPr lang="en-IN" b="1" i="1" dirty="0"/>
              <a:t>&lt;link&gt; </a:t>
            </a:r>
            <a:r>
              <a:rPr lang="en-IN" dirty="0"/>
              <a:t>tag inside </a:t>
            </a:r>
            <a:r>
              <a:rPr lang="en-IN" b="1" i="1" dirty="0"/>
              <a:t>head section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120538-B795-C20F-C2CA-00580D5D21F0}"/>
              </a:ext>
            </a:extLst>
          </p:cNvPr>
          <p:cNvSpPr txBox="1"/>
          <p:nvPr/>
        </p:nvSpPr>
        <p:spPr>
          <a:xfrm>
            <a:off x="5896708" y="4045170"/>
            <a:ext cx="674076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i="1" dirty="0"/>
              <a:t>&lt; link &gt; </a:t>
            </a:r>
            <a:r>
              <a:rPr lang="en-IN" dirty="0"/>
              <a:t>- tag used to </a:t>
            </a:r>
            <a:r>
              <a:rPr lang="en-IN" b="1" dirty="0"/>
              <a:t>link external resources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i="1" dirty="0" err="1"/>
              <a:t>rel</a:t>
            </a:r>
            <a:r>
              <a:rPr lang="en-IN" b="1" i="1" dirty="0"/>
              <a:t>="stylesheet“ - </a:t>
            </a:r>
            <a:r>
              <a:rPr lang="en-IN" dirty="0"/>
              <a:t>Specifies that the linked file is a stylesheet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i="1" dirty="0" err="1"/>
              <a:t>href</a:t>
            </a:r>
            <a:r>
              <a:rPr lang="en-IN" b="1" i="1" dirty="0"/>
              <a:t>=“mystyle.css” - </a:t>
            </a:r>
            <a:r>
              <a:rPr lang="en-IN" dirty="0"/>
              <a:t>the </a:t>
            </a:r>
            <a:r>
              <a:rPr lang="en-IN" b="1" i="1" dirty="0"/>
              <a:t>path and filename</a:t>
            </a:r>
            <a:r>
              <a:rPr lang="en-IN" dirty="0"/>
              <a:t> of the CSS file</a:t>
            </a:r>
          </a:p>
          <a:p>
            <a:pPr lvl="5"/>
            <a:r>
              <a:rPr lang="en-IN" b="1" dirty="0" err="1"/>
              <a:t>href</a:t>
            </a:r>
            <a:r>
              <a:rPr lang="en-IN" b="1" i="1" dirty="0"/>
              <a:t> - Hypertext Reference</a:t>
            </a:r>
            <a:r>
              <a:rPr lang="en-IN" dirty="0"/>
              <a:t>.</a:t>
            </a:r>
            <a:endParaRPr lang="en-IN" b="1" i="1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288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BA9DD-2B56-8B93-3234-F885339627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9292"/>
            <a:ext cx="5181600" cy="59776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i="1" u="sng" dirty="0"/>
              <a:t>index.html</a:t>
            </a:r>
          </a:p>
          <a:p>
            <a:pPr marL="0" indent="0">
              <a:buNone/>
            </a:pPr>
            <a:endParaRPr lang="en-IN" sz="2000" b="1" i="1" u="sng" dirty="0"/>
          </a:p>
          <a:p>
            <a:pPr marL="0" indent="0">
              <a:buNone/>
            </a:pPr>
            <a:r>
              <a:rPr lang="en-IN" sz="2000" dirty="0"/>
              <a:t>&lt;!DOCTYPE html&gt;</a:t>
            </a:r>
          </a:p>
          <a:p>
            <a:pPr marL="0" indent="0">
              <a:buNone/>
            </a:pPr>
            <a:r>
              <a:rPr lang="en-IN" sz="2000" dirty="0"/>
              <a:t>&lt;html&gt;</a:t>
            </a:r>
          </a:p>
          <a:p>
            <a:pPr marL="0" indent="0">
              <a:buNone/>
            </a:pPr>
            <a:r>
              <a:rPr lang="en-IN" sz="2000" dirty="0"/>
              <a:t>&lt;head&gt;</a:t>
            </a:r>
          </a:p>
          <a:p>
            <a:pPr marL="0" indent="0">
              <a:buNone/>
            </a:pPr>
            <a:r>
              <a:rPr lang="en-IN" sz="2000" dirty="0">
                <a:highlight>
                  <a:srgbClr val="FFFF00"/>
                </a:highlight>
              </a:rPr>
              <a:t>&lt;link </a:t>
            </a:r>
            <a:r>
              <a:rPr lang="en-IN" sz="2000" dirty="0" err="1">
                <a:highlight>
                  <a:srgbClr val="FFFF00"/>
                </a:highlight>
              </a:rPr>
              <a:t>rel</a:t>
            </a:r>
            <a:r>
              <a:rPr lang="en-IN" sz="2000" dirty="0">
                <a:highlight>
                  <a:srgbClr val="FFFF00"/>
                </a:highlight>
              </a:rPr>
              <a:t>="stylesheet" </a:t>
            </a:r>
            <a:r>
              <a:rPr lang="en-IN" sz="2000" dirty="0" err="1">
                <a:highlight>
                  <a:srgbClr val="FFFF00"/>
                </a:highlight>
              </a:rPr>
              <a:t>href</a:t>
            </a:r>
            <a:r>
              <a:rPr lang="en-IN" sz="2000" dirty="0">
                <a:highlight>
                  <a:srgbClr val="FFFF00"/>
                </a:highlight>
              </a:rPr>
              <a:t>="mystyle.css"&gt;</a:t>
            </a:r>
          </a:p>
          <a:p>
            <a:pPr marL="0" indent="0">
              <a:buNone/>
            </a:pPr>
            <a:r>
              <a:rPr lang="en-IN" sz="2000" dirty="0"/>
              <a:t>&lt;/head&gt;</a:t>
            </a:r>
          </a:p>
          <a:p>
            <a:pPr marL="0" indent="0">
              <a:buNone/>
            </a:pPr>
            <a:r>
              <a:rPr lang="en-IN" sz="2000" dirty="0"/>
              <a:t>&lt;body&gt;</a:t>
            </a:r>
          </a:p>
          <a:p>
            <a:pPr marL="0" indent="0">
              <a:buNone/>
            </a:pPr>
            <a:r>
              <a:rPr lang="en-IN" sz="2000" dirty="0"/>
              <a:t>&lt;h1&gt; This is a example of External CSS &lt;/h1&gt;</a:t>
            </a:r>
          </a:p>
          <a:p>
            <a:pPr marL="0" indent="0">
              <a:buNone/>
            </a:pPr>
            <a:r>
              <a:rPr lang="en-IN" sz="2000" dirty="0"/>
              <a:t>&lt;p&gt;This is a paragraph.&lt;/p&gt;</a:t>
            </a:r>
          </a:p>
          <a:p>
            <a:pPr marL="0" indent="0">
              <a:buNone/>
            </a:pPr>
            <a:r>
              <a:rPr lang="en-IN" sz="2000" dirty="0"/>
              <a:t>&lt;/body&gt;</a:t>
            </a:r>
          </a:p>
          <a:p>
            <a:pPr marL="0" indent="0">
              <a:buNone/>
            </a:pPr>
            <a:r>
              <a:rPr lang="en-IN" sz="2000" dirty="0"/>
              <a:t>&lt;/html&gt;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75226A-C606-67F0-F392-8765D5D8C2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9292"/>
            <a:ext cx="5181600" cy="59776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i="1" u="sng" dirty="0"/>
              <a:t>mystyle.css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body {</a:t>
            </a:r>
            <a:br>
              <a:rPr lang="en-IN" dirty="0"/>
            </a:br>
            <a:r>
              <a:rPr lang="en-IN" dirty="0"/>
              <a:t>  background-</a:t>
            </a:r>
            <a:r>
              <a:rPr lang="en-IN" dirty="0" err="1"/>
              <a:t>color</a:t>
            </a:r>
            <a:r>
              <a:rPr lang="en-IN" dirty="0"/>
              <a:t>: </a:t>
            </a:r>
            <a:r>
              <a:rPr lang="en-IN" dirty="0" err="1"/>
              <a:t>lightblue</a:t>
            </a:r>
            <a:r>
              <a:rPr lang="en-IN" dirty="0"/>
              <a:t>;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h1 {</a:t>
            </a:r>
            <a:br>
              <a:rPr lang="en-IN" dirty="0"/>
            </a:br>
            <a:r>
              <a:rPr lang="en-IN" dirty="0"/>
              <a:t>  </a:t>
            </a:r>
            <a:r>
              <a:rPr lang="en-IN" dirty="0" err="1"/>
              <a:t>color</a:t>
            </a:r>
            <a:r>
              <a:rPr lang="en-IN" dirty="0"/>
              <a:t>: navy;</a:t>
            </a:r>
            <a:br>
              <a:rPr lang="en-IN" dirty="0"/>
            </a:br>
            <a:r>
              <a:rPr lang="en-IN" dirty="0"/>
              <a:t>  margin-left: 20px;</a:t>
            </a:r>
            <a:br>
              <a:rPr lang="en-IN" dirty="0"/>
            </a:b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93D026-C860-305E-F38F-EBAC53285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111" y="4600092"/>
            <a:ext cx="6239746" cy="166710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75704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xplain Internal CSS in HTML: Stepwise Implementation Guide | Updated 2026">
            <a:extLst>
              <a:ext uri="{FF2B5EF4-FFF2-40B4-BE49-F238E27FC236}">
                <a16:creationId xmlns:a16="http://schemas.microsoft.com/office/drawing/2014/main" id="{63FA9BDC-4151-C7AB-9A75-F6EA9F6FE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501" y="521598"/>
            <a:ext cx="8390998" cy="559784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780788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AF377-2AEA-6874-A4DC-2C320C40A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Selectors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765C0-7CE6-060C-52C8-563F60FC3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CSS selectors</a:t>
            </a:r>
            <a:r>
              <a:rPr lang="en-IN" dirty="0"/>
              <a:t> are used to target and select the HTML elements you want to style.</a:t>
            </a:r>
          </a:p>
          <a:p>
            <a:r>
              <a:rPr lang="en-IN" dirty="0"/>
              <a:t>They act as the </a:t>
            </a:r>
            <a:r>
              <a:rPr lang="en-IN" b="1" dirty="0"/>
              <a:t>link</a:t>
            </a:r>
            <a:r>
              <a:rPr lang="en-IN" dirty="0"/>
              <a:t> </a:t>
            </a:r>
            <a:r>
              <a:rPr lang="en-IN" b="1" dirty="0"/>
              <a:t>between</a:t>
            </a:r>
            <a:r>
              <a:rPr lang="en-IN" dirty="0"/>
              <a:t> your HTML structure and your CSS design.</a:t>
            </a:r>
          </a:p>
          <a:p>
            <a:br>
              <a:rPr lang="en-IN" dirty="0"/>
            </a:br>
            <a:endParaRPr lang="en-IN" dirty="0"/>
          </a:p>
          <a:p>
            <a:endParaRPr lang="en-IN" dirty="0"/>
          </a:p>
        </p:txBody>
      </p:sp>
      <p:pic>
        <p:nvPicPr>
          <p:cNvPr id="4" name="Picture 3" descr="CSS Selectors Tutorial | HTML &amp; CSS Is Hard">
            <a:extLst>
              <a:ext uri="{FF2B5EF4-FFF2-40B4-BE49-F238E27FC236}">
                <a16:creationId xmlns:a16="http://schemas.microsoft.com/office/drawing/2014/main" id="{9618EE39-D34D-8E48-32F2-0CA55CD7F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745" y="3025521"/>
            <a:ext cx="7524750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503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34B7A-2FA4-E342-CC40-99414EAE1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29213"/>
          </a:xfrm>
        </p:spPr>
        <p:txBody>
          <a:bodyPr/>
          <a:lstStyle/>
          <a:p>
            <a:r>
              <a:rPr lang="en-IN" dirty="0"/>
              <a:t>Id Selector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10626-71F8-CBF2-64A0-82FE9C312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ID Selector</a:t>
            </a:r>
            <a:r>
              <a:rPr lang="en-IN" dirty="0"/>
              <a:t> selects </a:t>
            </a:r>
            <a:r>
              <a:rPr lang="en-IN" b="1" dirty="0"/>
              <a:t>one unique HTML element</a:t>
            </a:r>
            <a:r>
              <a:rPr lang="en-IN" dirty="0"/>
              <a:t> using its id attribute</a:t>
            </a:r>
          </a:p>
          <a:p>
            <a:r>
              <a:rPr lang="en-IN" dirty="0"/>
              <a:t> id of an element is </a:t>
            </a:r>
            <a:r>
              <a:rPr lang="en-IN" b="1" i="1" u="sng" dirty="0"/>
              <a:t>unique</a:t>
            </a:r>
            <a:r>
              <a:rPr lang="en-IN" dirty="0"/>
              <a:t> within a page.</a:t>
            </a:r>
          </a:p>
          <a:p>
            <a:r>
              <a:rPr lang="en-IN" dirty="0"/>
              <a:t>Written with a </a:t>
            </a:r>
            <a:r>
              <a:rPr lang="en-IN" b="1" i="1" dirty="0"/>
              <a:t>hash character </a:t>
            </a:r>
            <a:r>
              <a:rPr lang="en-IN" dirty="0"/>
              <a:t>(</a:t>
            </a:r>
            <a:r>
              <a:rPr lang="en-IN" b="1" i="1" dirty="0"/>
              <a:t>#</a:t>
            </a:r>
            <a:r>
              <a:rPr lang="en-IN" dirty="0"/>
              <a:t>) followed by the </a:t>
            </a:r>
            <a:r>
              <a:rPr lang="en-IN" b="1" u="sng" dirty="0"/>
              <a:t>id name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112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B3C64-0A38-04FD-9881-ACD948FD6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7523" y="293077"/>
            <a:ext cx="5181600" cy="584871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&lt;head&gt;</a:t>
            </a:r>
          </a:p>
          <a:p>
            <a:pPr marL="0" indent="0">
              <a:buNone/>
            </a:pPr>
            <a:r>
              <a:rPr lang="en-IN" dirty="0"/>
              <a:t>&lt;style&gt;</a:t>
            </a:r>
          </a:p>
          <a:p>
            <a:pPr marL="0" indent="0">
              <a:buNone/>
            </a:pPr>
            <a:r>
              <a:rPr lang="en-IN" dirty="0">
                <a:highlight>
                  <a:srgbClr val="FFFF00"/>
                </a:highlight>
              </a:rPr>
              <a:t>#para1 </a:t>
            </a: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text-align: </a:t>
            </a:r>
            <a:r>
              <a:rPr lang="en-IN" dirty="0" err="1"/>
              <a:t>center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color</a:t>
            </a:r>
            <a:r>
              <a:rPr lang="en-IN" dirty="0"/>
              <a:t>: red;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&lt;/style&gt;</a:t>
            </a:r>
          </a:p>
          <a:p>
            <a:pPr marL="0" indent="0">
              <a:buNone/>
            </a:pPr>
            <a:r>
              <a:rPr lang="en-IN" dirty="0"/>
              <a:t>&lt;/head&gt;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&lt;p </a:t>
            </a:r>
            <a:r>
              <a:rPr lang="en-IN" dirty="0">
                <a:highlight>
                  <a:srgbClr val="FFFF00"/>
                </a:highlight>
              </a:rPr>
              <a:t>id="para1"&gt;</a:t>
            </a:r>
            <a:r>
              <a:rPr lang="en-IN" dirty="0"/>
              <a:t>Example of ID selector&lt;/p&gt;</a:t>
            </a:r>
          </a:p>
          <a:p>
            <a:pPr marL="0" indent="0">
              <a:buNone/>
            </a:pPr>
            <a:r>
              <a:rPr lang="en-IN" dirty="0"/>
              <a:t>&lt;p&gt;This paragraph is not affected by the style.&lt;/p&gt;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EF3BF7E-27A5-FB74-65C1-8F6571FE759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2" y="1838765"/>
            <a:ext cx="5181600" cy="125361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85600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52310-5389-E7B1-3D7C-33E976571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 Selector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89CB6-5B74-03A3-310D-60BE7A665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Class Selector</a:t>
            </a:r>
            <a:r>
              <a:rPr lang="en-IN" dirty="0"/>
              <a:t> selects </a:t>
            </a:r>
            <a:r>
              <a:rPr lang="en-IN" b="1" dirty="0"/>
              <a:t>one or more HTML elements</a:t>
            </a:r>
            <a:r>
              <a:rPr lang="en-IN" dirty="0"/>
              <a:t> with the same class name.</a:t>
            </a:r>
          </a:p>
          <a:p>
            <a:r>
              <a:rPr lang="en-IN" dirty="0"/>
              <a:t>class selectors are </a:t>
            </a:r>
            <a:r>
              <a:rPr lang="en-IN" b="1" i="1" dirty="0"/>
              <a:t>reusable</a:t>
            </a:r>
            <a:r>
              <a:rPr lang="en-IN" dirty="0"/>
              <a:t> and can be applied to as many elements on a page as needed.</a:t>
            </a:r>
          </a:p>
          <a:p>
            <a:r>
              <a:rPr lang="en-IN" dirty="0"/>
              <a:t>Written with a </a:t>
            </a:r>
            <a:r>
              <a:rPr lang="en-IN" b="1" i="1" dirty="0"/>
              <a:t>period</a:t>
            </a:r>
            <a:r>
              <a:rPr lang="en-IN" dirty="0"/>
              <a:t> (</a:t>
            </a:r>
            <a:r>
              <a:rPr lang="en-IN" b="1" i="1" dirty="0"/>
              <a:t>.</a:t>
            </a:r>
            <a:r>
              <a:rPr lang="en-IN" dirty="0"/>
              <a:t>) followed by the class name.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974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DA89B-ABDB-E0A1-AC10-1B08EE1328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586154"/>
            <a:ext cx="5926015" cy="559080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600" dirty="0"/>
              <a:t>&lt;!DOCTYPE html&gt;</a:t>
            </a:r>
          </a:p>
          <a:p>
            <a:pPr marL="0" indent="0">
              <a:buNone/>
            </a:pPr>
            <a:r>
              <a:rPr lang="en-IN" sz="1600" dirty="0"/>
              <a:t>&lt;html&gt;</a:t>
            </a:r>
          </a:p>
          <a:p>
            <a:pPr marL="0" indent="0">
              <a:buNone/>
            </a:pPr>
            <a:r>
              <a:rPr lang="en-IN" sz="1600" dirty="0"/>
              <a:t>&lt;head&gt;</a:t>
            </a:r>
          </a:p>
          <a:p>
            <a:pPr marL="0" indent="0">
              <a:buNone/>
            </a:pPr>
            <a:r>
              <a:rPr lang="en-IN" sz="1600" dirty="0"/>
              <a:t>&lt;style&gt;</a:t>
            </a:r>
          </a:p>
          <a:p>
            <a:pPr marL="0" indent="0">
              <a:buNone/>
            </a:pPr>
            <a:r>
              <a:rPr lang="en-IN" sz="1600" dirty="0">
                <a:highlight>
                  <a:srgbClr val="FFFF00"/>
                </a:highlight>
              </a:rPr>
              <a:t>.</a:t>
            </a:r>
            <a:r>
              <a:rPr lang="en-IN" sz="1600" dirty="0" err="1">
                <a:highlight>
                  <a:srgbClr val="FFFF00"/>
                </a:highlight>
              </a:rPr>
              <a:t>center</a:t>
            </a:r>
            <a:r>
              <a:rPr lang="en-IN" sz="1600" dirty="0">
                <a:highlight>
                  <a:srgbClr val="FFFF00"/>
                </a:highlight>
              </a:rPr>
              <a:t> </a:t>
            </a:r>
            <a:r>
              <a:rPr lang="en-IN" sz="1600" dirty="0"/>
              <a:t>{</a:t>
            </a:r>
          </a:p>
          <a:p>
            <a:pPr marL="0" indent="0">
              <a:buNone/>
            </a:pPr>
            <a:r>
              <a:rPr lang="en-IN" sz="1600" dirty="0"/>
              <a:t>  text-align: </a:t>
            </a:r>
            <a:r>
              <a:rPr lang="en-IN" sz="1600" dirty="0" err="1"/>
              <a:t>center</a:t>
            </a:r>
            <a:r>
              <a:rPr lang="en-IN" sz="1600" dirty="0"/>
              <a:t>;</a:t>
            </a:r>
          </a:p>
          <a:p>
            <a:pPr marL="0" indent="0">
              <a:buNone/>
            </a:pPr>
            <a:r>
              <a:rPr lang="en-IN" sz="1600" dirty="0"/>
              <a:t>  </a:t>
            </a:r>
            <a:r>
              <a:rPr lang="en-IN" sz="1600" dirty="0" err="1"/>
              <a:t>color</a:t>
            </a:r>
            <a:r>
              <a:rPr lang="en-IN" sz="1600" dirty="0"/>
              <a:t>: red;</a:t>
            </a:r>
          </a:p>
          <a:p>
            <a:pPr marL="0" indent="0">
              <a:buNone/>
            </a:pPr>
            <a:r>
              <a:rPr lang="en-IN" sz="1600" dirty="0"/>
              <a:t>}</a:t>
            </a:r>
          </a:p>
          <a:p>
            <a:pPr marL="0" indent="0">
              <a:buNone/>
            </a:pPr>
            <a:r>
              <a:rPr lang="en-IN" sz="1600" dirty="0"/>
              <a:t>&lt;/style&gt;</a:t>
            </a:r>
          </a:p>
          <a:p>
            <a:pPr marL="0" indent="0">
              <a:buNone/>
            </a:pPr>
            <a:r>
              <a:rPr lang="en-IN" sz="1600" dirty="0"/>
              <a:t>&lt;/head&gt;</a:t>
            </a:r>
          </a:p>
          <a:p>
            <a:pPr marL="0" indent="0">
              <a:buNone/>
            </a:pPr>
            <a:r>
              <a:rPr lang="en-IN" sz="1600" dirty="0"/>
              <a:t>&lt;body&gt;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/>
              <a:t>&lt;h1 </a:t>
            </a:r>
            <a:r>
              <a:rPr lang="en-IN" sz="1600" dirty="0">
                <a:highlight>
                  <a:srgbClr val="FFFF00"/>
                </a:highlight>
              </a:rPr>
              <a:t>class="</a:t>
            </a:r>
            <a:r>
              <a:rPr lang="en-IN" sz="1600" dirty="0" err="1">
                <a:highlight>
                  <a:srgbClr val="FFFF00"/>
                </a:highlight>
              </a:rPr>
              <a:t>center</a:t>
            </a:r>
            <a:r>
              <a:rPr lang="en-IN" sz="1600" dirty="0">
                <a:highlight>
                  <a:srgbClr val="FFFF00"/>
                </a:highlight>
              </a:rPr>
              <a:t>"</a:t>
            </a:r>
            <a:r>
              <a:rPr lang="en-IN" sz="1600" dirty="0"/>
              <a:t>&gt;Red and </a:t>
            </a:r>
            <a:r>
              <a:rPr lang="en-IN" sz="1600" dirty="0" err="1"/>
              <a:t>center</a:t>
            </a:r>
            <a:r>
              <a:rPr lang="en-IN" sz="1600" dirty="0"/>
              <a:t>-aligned heading&lt;/h1&gt;</a:t>
            </a:r>
          </a:p>
          <a:p>
            <a:pPr marL="0" indent="0">
              <a:buNone/>
            </a:pPr>
            <a:r>
              <a:rPr lang="en-IN" sz="1600" dirty="0"/>
              <a:t>&lt;p </a:t>
            </a:r>
            <a:r>
              <a:rPr lang="en-IN" sz="1600" dirty="0">
                <a:highlight>
                  <a:srgbClr val="FFFF00"/>
                </a:highlight>
              </a:rPr>
              <a:t>class="</a:t>
            </a:r>
            <a:r>
              <a:rPr lang="en-IN" sz="1600" dirty="0" err="1">
                <a:highlight>
                  <a:srgbClr val="FFFF00"/>
                </a:highlight>
              </a:rPr>
              <a:t>center</a:t>
            </a:r>
            <a:r>
              <a:rPr lang="en-IN" sz="1600" dirty="0">
                <a:highlight>
                  <a:srgbClr val="FFFF00"/>
                </a:highlight>
              </a:rPr>
              <a:t>"</a:t>
            </a:r>
            <a:r>
              <a:rPr lang="en-IN" sz="1600" dirty="0"/>
              <a:t>&gt;Red and </a:t>
            </a:r>
            <a:r>
              <a:rPr lang="en-IN" sz="1600" dirty="0" err="1"/>
              <a:t>center</a:t>
            </a:r>
            <a:r>
              <a:rPr lang="en-IN" sz="1600" dirty="0"/>
              <a:t>-aligned paragraph.&lt;/p&gt; 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/>
              <a:t>&lt;/body&gt;</a:t>
            </a:r>
          </a:p>
          <a:p>
            <a:pPr marL="0" indent="0">
              <a:buNone/>
            </a:pPr>
            <a:r>
              <a:rPr lang="en-IN" sz="1600" dirty="0"/>
              <a:t>&lt;/html&gt;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058387B-A110-22A4-C60F-C1E42A9B654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23892" y="1706852"/>
            <a:ext cx="5181600" cy="14002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379021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F2EB2-646F-1115-A9E4-E4CBEE5672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57908"/>
            <a:ext cx="5181600" cy="591905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&lt;head&gt;</a:t>
            </a:r>
          </a:p>
          <a:p>
            <a:pPr marL="0" indent="0">
              <a:buNone/>
            </a:pPr>
            <a:r>
              <a:rPr lang="en-IN" dirty="0"/>
              <a:t>&lt;style&gt;</a:t>
            </a:r>
          </a:p>
          <a:p>
            <a:pPr marL="0" indent="0">
              <a:buNone/>
            </a:pPr>
            <a:r>
              <a:rPr lang="en-IN" dirty="0" err="1">
                <a:highlight>
                  <a:srgbClr val="FFFF00"/>
                </a:highlight>
              </a:rPr>
              <a:t>p.center</a:t>
            </a:r>
            <a:r>
              <a:rPr lang="en-IN" dirty="0">
                <a:highlight>
                  <a:srgbClr val="FFFF00"/>
                </a:highlight>
              </a:rPr>
              <a:t> </a:t>
            </a: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text-align: </a:t>
            </a:r>
            <a:r>
              <a:rPr lang="en-IN" dirty="0" err="1"/>
              <a:t>center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color</a:t>
            </a:r>
            <a:r>
              <a:rPr lang="en-IN" dirty="0"/>
              <a:t>: red;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&lt;/style&gt;</a:t>
            </a:r>
          </a:p>
          <a:p>
            <a:pPr marL="0" indent="0">
              <a:buNone/>
            </a:pPr>
            <a:r>
              <a:rPr lang="en-IN" dirty="0"/>
              <a:t>&lt;/head&gt;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&lt;h1 class="</a:t>
            </a:r>
            <a:r>
              <a:rPr lang="en-IN" dirty="0" err="1"/>
              <a:t>center</a:t>
            </a:r>
            <a:r>
              <a:rPr lang="en-IN" dirty="0"/>
              <a:t>"&gt;Red and </a:t>
            </a:r>
            <a:r>
              <a:rPr lang="en-IN" dirty="0" err="1"/>
              <a:t>center</a:t>
            </a:r>
            <a:r>
              <a:rPr lang="en-IN" dirty="0"/>
              <a:t>-aligned heading&lt;/h1&gt;</a:t>
            </a:r>
          </a:p>
          <a:p>
            <a:pPr marL="0" indent="0">
              <a:buNone/>
            </a:pPr>
            <a:r>
              <a:rPr lang="en-IN" dirty="0"/>
              <a:t>&lt;p class="</a:t>
            </a:r>
            <a:r>
              <a:rPr lang="en-IN" dirty="0" err="1"/>
              <a:t>center</a:t>
            </a:r>
            <a:r>
              <a:rPr lang="en-IN" dirty="0"/>
              <a:t>"&gt;Red and </a:t>
            </a:r>
            <a:r>
              <a:rPr lang="en-IN" dirty="0" err="1"/>
              <a:t>center</a:t>
            </a:r>
            <a:r>
              <a:rPr lang="en-IN" dirty="0"/>
              <a:t>-aligned paragraph.&lt;/p&gt;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80897D7-376D-2960-C260-1CAEBA0B477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3865747"/>
            <a:ext cx="5181600" cy="165441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EE395C-9157-C8B3-6417-6836AEA4CA2F}"/>
              </a:ext>
            </a:extLst>
          </p:cNvPr>
          <p:cNvSpPr txBox="1"/>
          <p:nvPr/>
        </p:nvSpPr>
        <p:spPr>
          <a:xfrm>
            <a:off x="8165124" y="410307"/>
            <a:ext cx="31886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class selector to a specific HTML element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5185610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D715C-958D-F4F7-5298-2365B6FC5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Universal Selector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858FB-A3FC-0BE4-4ED9-2D1B0ED7D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Universal Selector</a:t>
            </a:r>
            <a:r>
              <a:rPr lang="en-IN" dirty="0"/>
              <a:t> selects </a:t>
            </a:r>
            <a:r>
              <a:rPr lang="en-IN" b="1" dirty="0"/>
              <a:t>all HTML elements</a:t>
            </a:r>
            <a:r>
              <a:rPr lang="en-IN" dirty="0"/>
              <a:t> on the page.</a:t>
            </a:r>
          </a:p>
          <a:p>
            <a:r>
              <a:rPr lang="en-IN" dirty="0"/>
              <a:t>Written as a single </a:t>
            </a:r>
            <a:r>
              <a:rPr lang="en-IN" b="1" i="1" dirty="0"/>
              <a:t>asterisk</a:t>
            </a:r>
            <a:r>
              <a:rPr lang="en-IN" dirty="0"/>
              <a:t> (*).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51464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2CDA-49BF-8F33-15B7-479DE47064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6185" y="316523"/>
            <a:ext cx="5773615" cy="586044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&lt;head&gt;</a:t>
            </a:r>
          </a:p>
          <a:p>
            <a:pPr marL="0" indent="0">
              <a:buNone/>
            </a:pPr>
            <a:r>
              <a:rPr lang="en-IN" dirty="0"/>
              <a:t>&lt;style&gt;</a:t>
            </a:r>
          </a:p>
          <a:p>
            <a:pPr marL="0" indent="0">
              <a:buNone/>
            </a:pPr>
            <a:r>
              <a:rPr lang="en-IN" dirty="0">
                <a:highlight>
                  <a:srgbClr val="FFFF00"/>
                </a:highlight>
              </a:rPr>
              <a:t>*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text-align: </a:t>
            </a:r>
            <a:r>
              <a:rPr lang="en-IN" dirty="0" err="1"/>
              <a:t>center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color</a:t>
            </a:r>
            <a:r>
              <a:rPr lang="en-IN" dirty="0"/>
              <a:t>: blue;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&lt;/style&gt;</a:t>
            </a:r>
          </a:p>
          <a:p>
            <a:pPr marL="0" indent="0">
              <a:buNone/>
            </a:pPr>
            <a:r>
              <a:rPr lang="en-IN" dirty="0"/>
              <a:t>&lt;/head&gt;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&lt;h1&gt;Hello world!&lt;/h1&gt;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&lt;p&gt;Every element on the page will be affected by the style.&lt;/p&gt;</a:t>
            </a:r>
          </a:p>
          <a:p>
            <a:pPr marL="0" indent="0">
              <a:buNone/>
            </a:pPr>
            <a:r>
              <a:rPr lang="en-IN" dirty="0"/>
              <a:t>&lt;p id="para1"&gt;Me too!&lt;/p&gt;</a:t>
            </a:r>
          </a:p>
          <a:p>
            <a:pPr marL="0" indent="0">
              <a:buNone/>
            </a:pPr>
            <a:r>
              <a:rPr lang="en-IN" dirty="0"/>
              <a:t>&lt;p&gt;And me!&lt;/p&gt;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0D8AFEF-E268-551D-FB3A-B58D086FCF0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2" y="2505187"/>
            <a:ext cx="5181600" cy="21247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398159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DA4D6-9684-F69F-B4EB-44DCAFE6D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Group Selector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C6EAE-BB93-DF1D-6C1E-FAE9F35B8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Group Selector</a:t>
            </a:r>
            <a:r>
              <a:rPr lang="en-IN" dirty="0"/>
              <a:t> allows you to apply the </a:t>
            </a:r>
            <a:r>
              <a:rPr lang="en-IN" b="1" dirty="0"/>
              <a:t>same style to multiple elements</a:t>
            </a:r>
            <a:r>
              <a:rPr lang="en-IN" dirty="0"/>
              <a:t>.</a:t>
            </a:r>
          </a:p>
          <a:p>
            <a:r>
              <a:rPr lang="en-IN" dirty="0"/>
              <a:t>Written as a </a:t>
            </a:r>
            <a:r>
              <a:rPr lang="en-IN" b="1" i="1" dirty="0"/>
              <a:t>comma-separated list </a:t>
            </a:r>
            <a:r>
              <a:rPr lang="en-IN" dirty="0"/>
              <a:t>of multiple individual selectors.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66188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27820-C6E0-30A0-936A-713911DE02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4123"/>
            <a:ext cx="5181600" cy="601284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&lt;head&gt;</a:t>
            </a:r>
          </a:p>
          <a:p>
            <a:pPr marL="0" indent="0">
              <a:buNone/>
            </a:pPr>
            <a:r>
              <a:rPr lang="en-IN" dirty="0"/>
              <a:t>&lt;style&gt;</a:t>
            </a:r>
          </a:p>
          <a:p>
            <a:pPr marL="0" indent="0">
              <a:buNone/>
            </a:pPr>
            <a:r>
              <a:rPr lang="en-IN" dirty="0"/>
              <a:t>h1 {</a:t>
            </a:r>
            <a:br>
              <a:rPr lang="en-IN" dirty="0"/>
            </a:br>
            <a:r>
              <a:rPr lang="en-IN" dirty="0"/>
              <a:t>  text-align: </a:t>
            </a:r>
            <a:r>
              <a:rPr lang="en-IN" dirty="0" err="1"/>
              <a:t>center</a:t>
            </a:r>
            <a:r>
              <a:rPr lang="en-IN" dirty="0"/>
              <a:t>;</a:t>
            </a:r>
            <a:br>
              <a:rPr lang="en-IN" dirty="0"/>
            </a:br>
            <a:r>
              <a:rPr lang="en-IN" dirty="0"/>
              <a:t>  </a:t>
            </a:r>
            <a:r>
              <a:rPr lang="en-IN" dirty="0" err="1"/>
              <a:t>color</a:t>
            </a:r>
            <a:r>
              <a:rPr lang="en-IN" dirty="0"/>
              <a:t>: red;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h2 {</a:t>
            </a:r>
            <a:br>
              <a:rPr lang="en-IN" dirty="0"/>
            </a:br>
            <a:r>
              <a:rPr lang="en-IN" dirty="0"/>
              <a:t>  text-align: </a:t>
            </a:r>
            <a:r>
              <a:rPr lang="en-IN" dirty="0" err="1"/>
              <a:t>center</a:t>
            </a:r>
            <a:r>
              <a:rPr lang="en-IN" dirty="0"/>
              <a:t>;</a:t>
            </a:r>
            <a:br>
              <a:rPr lang="en-IN" dirty="0"/>
            </a:br>
            <a:r>
              <a:rPr lang="en-IN" dirty="0"/>
              <a:t>  </a:t>
            </a:r>
            <a:r>
              <a:rPr lang="en-IN" dirty="0" err="1"/>
              <a:t>color</a:t>
            </a:r>
            <a:r>
              <a:rPr lang="en-IN" dirty="0"/>
              <a:t>: red;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 {</a:t>
            </a:r>
            <a:br>
              <a:rPr lang="en-IN" dirty="0"/>
            </a:br>
            <a:r>
              <a:rPr lang="en-IN" dirty="0"/>
              <a:t>  text-align: </a:t>
            </a:r>
            <a:r>
              <a:rPr lang="en-IN" dirty="0" err="1"/>
              <a:t>center</a:t>
            </a:r>
            <a:r>
              <a:rPr lang="en-IN" dirty="0"/>
              <a:t>;</a:t>
            </a:r>
            <a:br>
              <a:rPr lang="en-IN" dirty="0"/>
            </a:br>
            <a:r>
              <a:rPr lang="en-IN" dirty="0"/>
              <a:t>  </a:t>
            </a:r>
            <a:r>
              <a:rPr lang="en-IN" dirty="0" err="1"/>
              <a:t>color</a:t>
            </a:r>
            <a:r>
              <a:rPr lang="en-IN" dirty="0"/>
              <a:t>: red;</a:t>
            </a:r>
            <a:br>
              <a:rPr lang="en-IN" dirty="0"/>
            </a:b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&lt;/style&gt;</a:t>
            </a:r>
          </a:p>
          <a:p>
            <a:pPr marL="0" indent="0">
              <a:buNone/>
            </a:pPr>
            <a:r>
              <a:rPr lang="en-IN" dirty="0"/>
              <a:t>&lt;/head&gt;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321407-8F19-A6C5-8A69-59DEAE9C7E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4123"/>
            <a:ext cx="5181600" cy="309489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&lt;h1&gt;Hello World!&lt;/h1&gt;</a:t>
            </a:r>
          </a:p>
          <a:p>
            <a:pPr marL="0" indent="0">
              <a:buNone/>
            </a:pPr>
            <a:r>
              <a:rPr lang="en-IN" dirty="0"/>
              <a:t>&lt;h2&gt;Smaller heading!&lt;/h2&gt;</a:t>
            </a:r>
          </a:p>
          <a:p>
            <a:pPr marL="0" indent="0">
              <a:buNone/>
            </a:pPr>
            <a:r>
              <a:rPr lang="en-IN" dirty="0"/>
              <a:t>&lt;p&gt;This is a paragraph.&lt;/p&gt;</a:t>
            </a:r>
          </a:p>
          <a:p>
            <a:pPr marL="0" indent="0">
              <a:buNone/>
            </a:pPr>
            <a:r>
              <a:rPr lang="en-IN" dirty="0"/>
              <a:t>&lt;h3&gt;Not affected&lt;/h3&gt;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D30E9F-C9C4-E7F4-00FB-C7604D443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684" y="3735065"/>
            <a:ext cx="5906324" cy="28578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860324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23263-3CC3-3C40-BED5-6C355368B0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69631"/>
            <a:ext cx="5181600" cy="590733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&lt;head&gt;</a:t>
            </a:r>
          </a:p>
          <a:p>
            <a:pPr marL="0" indent="0">
              <a:buNone/>
            </a:pPr>
            <a:r>
              <a:rPr lang="en-IN" dirty="0"/>
              <a:t>&lt;style&gt;</a:t>
            </a:r>
          </a:p>
          <a:p>
            <a:pPr marL="0" indent="0">
              <a:buNone/>
            </a:pPr>
            <a:r>
              <a:rPr lang="en-IN" dirty="0">
                <a:highlight>
                  <a:srgbClr val="FFFF00"/>
                </a:highlight>
              </a:rPr>
              <a:t>h1, h2, p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text-align: </a:t>
            </a:r>
            <a:r>
              <a:rPr lang="en-IN" dirty="0" err="1"/>
              <a:t>center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color</a:t>
            </a:r>
            <a:r>
              <a:rPr lang="en-IN" dirty="0"/>
              <a:t>: red;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&lt;/style&gt;</a:t>
            </a:r>
          </a:p>
          <a:p>
            <a:pPr marL="0" indent="0">
              <a:buNone/>
            </a:pPr>
            <a:r>
              <a:rPr lang="en-IN" dirty="0"/>
              <a:t>&lt;/head&gt;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&lt;h1&gt;Hello World!&lt;/h1&gt;</a:t>
            </a:r>
          </a:p>
          <a:p>
            <a:pPr marL="0" indent="0">
              <a:buNone/>
            </a:pPr>
            <a:r>
              <a:rPr lang="en-IN" dirty="0"/>
              <a:t>&lt;h2&gt;Smaller heading!&lt;/h2&gt;</a:t>
            </a:r>
          </a:p>
          <a:p>
            <a:pPr marL="0" indent="0">
              <a:buNone/>
            </a:pPr>
            <a:r>
              <a:rPr lang="en-IN" dirty="0"/>
              <a:t>&lt;p&gt;This is a paragraph.&lt;/p&gt;</a:t>
            </a:r>
          </a:p>
          <a:p>
            <a:pPr marL="0" indent="0">
              <a:buNone/>
            </a:pPr>
            <a:r>
              <a:rPr lang="en-IN" dirty="0"/>
              <a:t>&lt;h3&gt;Not affected&lt;/h3&gt;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66F4DB4-AAA2-1772-6587-A03059364F9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862017"/>
            <a:ext cx="5181600" cy="227855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83B72E9-8326-C768-566E-741803E7AB8A}"/>
              </a:ext>
            </a:extLst>
          </p:cNvPr>
          <p:cNvSpPr txBox="1"/>
          <p:nvPr/>
        </p:nvSpPr>
        <p:spPr>
          <a:xfrm>
            <a:off x="8042031" y="527538"/>
            <a:ext cx="27783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Group Selector</a:t>
            </a:r>
          </a:p>
        </p:txBody>
      </p:sp>
    </p:spTree>
    <p:extLst>
      <p:ext uri="{BB962C8B-B14F-4D97-AF65-F5344CB8AC3E}">
        <p14:creationId xmlns:p14="http://schemas.microsoft.com/office/powerpoint/2010/main" val="3891527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A5B1724-783A-A535-C58A-8801BA8ABD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639436"/>
              </p:ext>
            </p:extLst>
          </p:nvPr>
        </p:nvGraphicFramePr>
        <p:xfrm>
          <a:off x="643467" y="895603"/>
          <a:ext cx="11067888" cy="555753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70008">
                  <a:extLst>
                    <a:ext uri="{9D8B030D-6E8A-4147-A177-3AD203B41FA5}">
                      <a16:colId xmlns:a16="http://schemas.microsoft.com/office/drawing/2014/main" val="2688900477"/>
                    </a:ext>
                  </a:extLst>
                </a:gridCol>
                <a:gridCol w="2765794">
                  <a:extLst>
                    <a:ext uri="{9D8B030D-6E8A-4147-A177-3AD203B41FA5}">
                      <a16:colId xmlns:a16="http://schemas.microsoft.com/office/drawing/2014/main" val="2398512261"/>
                    </a:ext>
                  </a:extLst>
                </a:gridCol>
                <a:gridCol w="2722725">
                  <a:extLst>
                    <a:ext uri="{9D8B030D-6E8A-4147-A177-3AD203B41FA5}">
                      <a16:colId xmlns:a16="http://schemas.microsoft.com/office/drawing/2014/main" val="1066959832"/>
                    </a:ext>
                  </a:extLst>
                </a:gridCol>
                <a:gridCol w="2909361">
                  <a:extLst>
                    <a:ext uri="{9D8B030D-6E8A-4147-A177-3AD203B41FA5}">
                      <a16:colId xmlns:a16="http://schemas.microsoft.com/office/drawing/2014/main" val="3761575195"/>
                    </a:ext>
                  </a:extLst>
                </a:gridCol>
              </a:tblGrid>
              <a:tr h="3355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CSS Property</a:t>
                      </a:r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Use</a:t>
                      </a:r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Common Values</a:t>
                      </a:r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Example</a:t>
                      </a:r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762238"/>
                  </a:ext>
                </a:extLst>
              </a:tr>
              <a:tr h="335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color</a:t>
                      </a:r>
                      <a:endParaRPr lang="en-IN" sz="1300"/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Changes text color</a:t>
                      </a:r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red, blue, #000, rgb()</a:t>
                      </a:r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 err="1"/>
                        <a:t>color</a:t>
                      </a:r>
                      <a:r>
                        <a:rPr lang="en-IN" sz="1300" dirty="0"/>
                        <a:t>: blue;</a:t>
                      </a:r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5566177"/>
                  </a:ext>
                </a:extLst>
              </a:tr>
              <a:tr h="335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background-color</a:t>
                      </a:r>
                      <a:endParaRPr lang="en-IN" sz="1300"/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Sets background </a:t>
                      </a:r>
                      <a:r>
                        <a:rPr lang="en-IN" sz="1300" dirty="0" err="1"/>
                        <a:t>color</a:t>
                      </a:r>
                      <a:endParaRPr lang="en-IN" sz="1300" dirty="0"/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color names, hex codes</a:t>
                      </a:r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background-</a:t>
                      </a:r>
                      <a:r>
                        <a:rPr lang="en-IN" sz="1300" dirty="0" err="1"/>
                        <a:t>color</a:t>
                      </a:r>
                      <a:r>
                        <a:rPr lang="en-IN" sz="1300" dirty="0"/>
                        <a:t>: yellow;</a:t>
                      </a:r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7864275"/>
                  </a:ext>
                </a:extLst>
              </a:tr>
              <a:tr h="335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font-weight</a:t>
                      </a:r>
                      <a:endParaRPr lang="en-IN" sz="1300"/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Controls text thickness</a:t>
                      </a:r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normal, bold, 100–900</a:t>
                      </a:r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font-weight: bold;</a:t>
                      </a:r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8242297"/>
                  </a:ext>
                </a:extLst>
              </a:tr>
              <a:tr h="335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font-style</a:t>
                      </a:r>
                      <a:endParaRPr lang="en-IN" sz="1300"/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Makes text italic or normal</a:t>
                      </a:r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normal, italic, oblique</a:t>
                      </a:r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font-style: italic;</a:t>
                      </a:r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7351517"/>
                  </a:ext>
                </a:extLst>
              </a:tr>
              <a:tr h="5505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text-decoration</a:t>
                      </a:r>
                      <a:endParaRPr lang="en-IN" sz="1300"/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Adds decoration to text</a:t>
                      </a:r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underline, overline, line-through, none</a:t>
                      </a:r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text-decoration: underline;</a:t>
                      </a:r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0314119"/>
                  </a:ext>
                </a:extLst>
              </a:tr>
              <a:tr h="335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text-align</a:t>
                      </a:r>
                      <a:endParaRPr lang="en-IN" sz="1300"/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Aligns text</a:t>
                      </a:r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left, center, right, justify</a:t>
                      </a:r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text-align: center;</a:t>
                      </a:r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842510"/>
                  </a:ext>
                </a:extLst>
              </a:tr>
              <a:tr h="5505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font-family</a:t>
                      </a:r>
                      <a:endParaRPr lang="en-IN" sz="1300"/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Changes font type</a:t>
                      </a:r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Arial, Times New Roman, sans-serif</a:t>
                      </a:r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font-family: Arial;</a:t>
                      </a:r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2894281"/>
                  </a:ext>
                </a:extLst>
              </a:tr>
              <a:tr h="335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font-size</a:t>
                      </a:r>
                      <a:endParaRPr lang="en-IN" sz="1300"/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Changes text size</a:t>
                      </a:r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px, em, rem, %</a:t>
                      </a:r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font-size: 20px;</a:t>
                      </a:r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1753723"/>
                  </a:ext>
                </a:extLst>
              </a:tr>
              <a:tr h="335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letter-spacing</a:t>
                      </a:r>
                      <a:endParaRPr lang="en-IN" sz="1300"/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Controls space between letters</a:t>
                      </a:r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px, em</a:t>
                      </a:r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letter-spacing: 2px;</a:t>
                      </a:r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0350996"/>
                  </a:ext>
                </a:extLst>
              </a:tr>
              <a:tr h="335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padding</a:t>
                      </a:r>
                      <a:endParaRPr lang="en-IN" sz="1300"/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Adds space inside an element</a:t>
                      </a:r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px, %, em</a:t>
                      </a:r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padding: 10px;</a:t>
                      </a:r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4394895"/>
                  </a:ext>
                </a:extLst>
              </a:tr>
              <a:tr h="335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border</a:t>
                      </a:r>
                      <a:endParaRPr lang="en-IN" sz="1300" dirty="0"/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Adds a border around an element</a:t>
                      </a:r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width style color</a:t>
                      </a:r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border: 2px solid black;</a:t>
                      </a:r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5402826"/>
                  </a:ext>
                </a:extLst>
              </a:tr>
              <a:tr h="5505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background-image</a:t>
                      </a:r>
                      <a:endParaRPr lang="en-IN" sz="1300"/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Adds an image as background</a:t>
                      </a:r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url()</a:t>
                      </a:r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background-image: url("bg.jpg");</a:t>
                      </a:r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4928263"/>
                  </a:ext>
                </a:extLst>
              </a:tr>
              <a:tr h="5505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margin-left</a:t>
                      </a:r>
                      <a:endParaRPr lang="en-IN" sz="1300"/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Adds space on the left side of an element</a:t>
                      </a:r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px, %, em</a:t>
                      </a:r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margin-left: 50px;</a:t>
                      </a:r>
                    </a:p>
                  </a:txBody>
                  <a:tcPr marL="62877" marR="62877" marT="31439" marB="31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060035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B49EFE0-2377-9C7B-228D-5577BB08AB57}"/>
              </a:ext>
            </a:extLst>
          </p:cNvPr>
          <p:cNvSpPr txBox="1"/>
          <p:nvPr/>
        </p:nvSpPr>
        <p:spPr>
          <a:xfrm>
            <a:off x="2883877" y="140644"/>
            <a:ext cx="52478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i="1" u="sng" dirty="0"/>
              <a:t>CSS PROPERTIES</a:t>
            </a:r>
          </a:p>
        </p:txBody>
      </p:sp>
    </p:spTree>
    <p:extLst>
      <p:ext uri="{BB962C8B-B14F-4D97-AF65-F5344CB8AC3E}">
        <p14:creationId xmlns:p14="http://schemas.microsoft.com/office/powerpoint/2010/main" val="27798774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FC1B14A-CFFA-CCFC-832A-CC376AEA6F64}"/>
              </a:ext>
            </a:extLst>
          </p:cNvPr>
          <p:cNvSpPr txBox="1"/>
          <p:nvPr/>
        </p:nvSpPr>
        <p:spPr>
          <a:xfrm>
            <a:off x="234460" y="243512"/>
            <a:ext cx="4069911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&lt;!DOCTYPE html&gt;</a:t>
            </a:r>
          </a:p>
          <a:p>
            <a:r>
              <a:rPr lang="en-IN" sz="1600" dirty="0"/>
              <a:t>&lt;html&gt;</a:t>
            </a:r>
          </a:p>
          <a:p>
            <a:r>
              <a:rPr lang="en-IN" sz="1600" dirty="0"/>
              <a:t>&lt;head&gt;</a:t>
            </a:r>
          </a:p>
          <a:p>
            <a:r>
              <a:rPr lang="en-IN" sz="1600" dirty="0"/>
              <a:t>    &lt;title&gt;CSS Properties Examples&lt;/title&gt;</a:t>
            </a:r>
          </a:p>
          <a:p>
            <a:r>
              <a:rPr lang="en-IN" sz="1600" dirty="0"/>
              <a:t>    &lt;style&gt;</a:t>
            </a:r>
          </a:p>
          <a:p>
            <a:r>
              <a:rPr lang="en-IN" sz="1600" dirty="0"/>
              <a:t>        .</a:t>
            </a:r>
            <a:r>
              <a:rPr lang="en-IN" sz="1600" dirty="0" err="1"/>
              <a:t>color</a:t>
            </a:r>
            <a:r>
              <a:rPr lang="en-IN" sz="1600" dirty="0"/>
              <a:t> {</a:t>
            </a:r>
          </a:p>
          <a:p>
            <a:r>
              <a:rPr lang="en-IN" sz="1600" dirty="0"/>
              <a:t>            </a:t>
            </a:r>
            <a:r>
              <a:rPr lang="en-IN" sz="1600" dirty="0" err="1"/>
              <a:t>color</a:t>
            </a:r>
            <a:r>
              <a:rPr lang="en-IN" sz="1600" dirty="0"/>
              <a:t>: red;</a:t>
            </a:r>
          </a:p>
          <a:p>
            <a:r>
              <a:rPr lang="en-IN" sz="1600" dirty="0"/>
              <a:t>        }</a:t>
            </a:r>
          </a:p>
          <a:p>
            <a:r>
              <a:rPr lang="en-IN" sz="1600" dirty="0"/>
              <a:t>        .</a:t>
            </a:r>
            <a:r>
              <a:rPr lang="en-IN" sz="1600" dirty="0" err="1"/>
              <a:t>bgcolor</a:t>
            </a:r>
            <a:r>
              <a:rPr lang="en-IN" sz="1600" dirty="0"/>
              <a:t> {</a:t>
            </a:r>
          </a:p>
          <a:p>
            <a:r>
              <a:rPr lang="en-IN" sz="1600" dirty="0"/>
              <a:t>            background-</a:t>
            </a:r>
            <a:r>
              <a:rPr lang="en-IN" sz="1600" dirty="0" err="1"/>
              <a:t>color</a:t>
            </a:r>
            <a:r>
              <a:rPr lang="en-IN" sz="1600" dirty="0"/>
              <a:t>: yellow;</a:t>
            </a:r>
          </a:p>
          <a:p>
            <a:r>
              <a:rPr lang="en-IN" sz="1600" dirty="0"/>
              <a:t>        }</a:t>
            </a:r>
          </a:p>
          <a:p>
            <a:r>
              <a:rPr lang="en-IN" sz="1600" dirty="0"/>
              <a:t>        .</a:t>
            </a:r>
            <a:r>
              <a:rPr lang="en-IN" sz="1600" dirty="0" err="1"/>
              <a:t>fontweight</a:t>
            </a:r>
            <a:r>
              <a:rPr lang="en-IN" sz="1600" dirty="0"/>
              <a:t> {</a:t>
            </a:r>
          </a:p>
          <a:p>
            <a:r>
              <a:rPr lang="en-IN" sz="1600" dirty="0"/>
              <a:t>            font-weight: bold;</a:t>
            </a:r>
          </a:p>
          <a:p>
            <a:r>
              <a:rPr lang="en-IN" sz="1600" dirty="0"/>
              <a:t>        }</a:t>
            </a:r>
          </a:p>
          <a:p>
            <a:r>
              <a:rPr lang="en-IN" sz="1600" dirty="0"/>
              <a:t>        .</a:t>
            </a:r>
            <a:r>
              <a:rPr lang="en-IN" sz="1600" dirty="0" err="1"/>
              <a:t>fontstyle</a:t>
            </a:r>
            <a:r>
              <a:rPr lang="en-IN" sz="1600" dirty="0"/>
              <a:t> {</a:t>
            </a:r>
          </a:p>
          <a:p>
            <a:r>
              <a:rPr lang="en-IN" sz="1600" dirty="0"/>
              <a:t>            font-style: italic;</a:t>
            </a:r>
          </a:p>
          <a:p>
            <a:r>
              <a:rPr lang="en-IN" sz="1600" dirty="0"/>
              <a:t>        }</a:t>
            </a:r>
          </a:p>
          <a:p>
            <a:r>
              <a:rPr lang="en-IN" sz="1600" dirty="0"/>
              <a:t>        .decoration {</a:t>
            </a:r>
          </a:p>
          <a:p>
            <a:r>
              <a:rPr lang="en-IN" sz="1600" dirty="0"/>
              <a:t>            text-decoration: underline;</a:t>
            </a:r>
          </a:p>
          <a:p>
            <a:r>
              <a:rPr lang="en-IN" sz="1600" dirty="0"/>
              <a:t>        }</a:t>
            </a:r>
          </a:p>
          <a:p>
            <a:r>
              <a:rPr lang="en-IN" sz="1600" dirty="0"/>
              <a:t>        .align {</a:t>
            </a:r>
          </a:p>
          <a:p>
            <a:r>
              <a:rPr lang="en-IN" sz="1600" dirty="0"/>
              <a:t>            text-align: </a:t>
            </a:r>
            <a:r>
              <a:rPr lang="en-IN" sz="1600" dirty="0" err="1"/>
              <a:t>center</a:t>
            </a:r>
            <a:r>
              <a:rPr lang="en-IN" sz="1600" dirty="0"/>
              <a:t>;</a:t>
            </a:r>
          </a:p>
          <a:p>
            <a:r>
              <a:rPr lang="en-IN" sz="1600" dirty="0"/>
              <a:t>        }</a:t>
            </a:r>
          </a:p>
          <a:p>
            <a:r>
              <a:rPr lang="en-IN" sz="1600" dirty="0"/>
              <a:t>        .family {</a:t>
            </a:r>
          </a:p>
          <a:p>
            <a:r>
              <a:rPr lang="en-IN" sz="1600" dirty="0"/>
              <a:t>            font-family: Arial, sans-serif;</a:t>
            </a:r>
          </a:p>
          <a:p>
            <a:r>
              <a:rPr lang="en-IN" sz="1600" dirty="0"/>
              <a:t>        }</a:t>
            </a:r>
          </a:p>
          <a:p>
            <a:endParaRPr lang="en-IN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811FF1-32D3-CFE7-3F6F-D48DF449A877}"/>
              </a:ext>
            </a:extLst>
          </p:cNvPr>
          <p:cNvSpPr txBox="1"/>
          <p:nvPr/>
        </p:nvSpPr>
        <p:spPr>
          <a:xfrm>
            <a:off x="5863400" y="551289"/>
            <a:ext cx="609414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 .size {</a:t>
            </a:r>
          </a:p>
          <a:p>
            <a:r>
              <a:rPr lang="en-IN" sz="1600" dirty="0"/>
              <a:t>            font-size: 30px;</a:t>
            </a:r>
          </a:p>
          <a:p>
            <a:r>
              <a:rPr lang="en-IN" sz="1600" dirty="0"/>
              <a:t>        }</a:t>
            </a:r>
          </a:p>
          <a:p>
            <a:r>
              <a:rPr lang="en-IN" sz="1600" dirty="0"/>
              <a:t>        .spacing {</a:t>
            </a:r>
          </a:p>
          <a:p>
            <a:r>
              <a:rPr lang="en-IN" sz="1600" dirty="0"/>
              <a:t>            letter-spacing: 5px;</a:t>
            </a:r>
          </a:p>
          <a:p>
            <a:r>
              <a:rPr lang="en-IN" sz="1600" dirty="0"/>
              <a:t>        }</a:t>
            </a:r>
          </a:p>
          <a:p>
            <a:r>
              <a:rPr lang="en-IN" sz="1600" dirty="0"/>
              <a:t>        .padding {</a:t>
            </a:r>
          </a:p>
          <a:p>
            <a:r>
              <a:rPr lang="en-IN" sz="1600" dirty="0"/>
              <a:t>            padding: 20px;</a:t>
            </a:r>
          </a:p>
          <a:p>
            <a:r>
              <a:rPr lang="en-IN" sz="1600" dirty="0"/>
              <a:t>            background-</a:t>
            </a:r>
            <a:r>
              <a:rPr lang="en-IN" sz="1600" dirty="0" err="1"/>
              <a:t>color</a:t>
            </a:r>
            <a:r>
              <a:rPr lang="en-IN" sz="1600" dirty="0"/>
              <a:t>: </a:t>
            </a:r>
            <a:r>
              <a:rPr lang="en-IN" sz="1600" dirty="0" err="1"/>
              <a:t>lightblue</a:t>
            </a:r>
            <a:r>
              <a:rPr lang="en-IN" sz="1600" dirty="0"/>
              <a:t>;</a:t>
            </a:r>
          </a:p>
          <a:p>
            <a:r>
              <a:rPr lang="en-IN" sz="1600" dirty="0"/>
              <a:t>        }</a:t>
            </a:r>
          </a:p>
          <a:p>
            <a:r>
              <a:rPr lang="en-IN" sz="1600" dirty="0"/>
              <a:t>        .border {</a:t>
            </a:r>
          </a:p>
          <a:p>
            <a:r>
              <a:rPr lang="en-IN" sz="1600" dirty="0"/>
              <a:t>            border: 3px solid black;</a:t>
            </a:r>
          </a:p>
          <a:p>
            <a:r>
              <a:rPr lang="en-IN" sz="1600" dirty="0"/>
              <a:t>        }</a:t>
            </a:r>
          </a:p>
          <a:p>
            <a:r>
              <a:rPr lang="en-IN" sz="1600" dirty="0"/>
              <a:t>        .</a:t>
            </a:r>
            <a:r>
              <a:rPr lang="en-IN" sz="1600" dirty="0" err="1"/>
              <a:t>bgimage</a:t>
            </a:r>
            <a:r>
              <a:rPr lang="en-IN" sz="1600" dirty="0"/>
              <a:t> {</a:t>
            </a:r>
          </a:p>
          <a:p>
            <a:r>
              <a:rPr lang="en-IN" sz="1600" dirty="0"/>
              <a:t>            background-image: </a:t>
            </a:r>
            <a:r>
              <a:rPr lang="en-IN" sz="1600" dirty="0" err="1"/>
              <a:t>url</a:t>
            </a:r>
            <a:r>
              <a:rPr lang="en-IN" sz="1600" dirty="0"/>
              <a:t>(“image.jpg");</a:t>
            </a:r>
          </a:p>
          <a:p>
            <a:r>
              <a:rPr lang="en-IN" sz="1600" dirty="0"/>
              <a:t>            height: 150px;</a:t>
            </a:r>
          </a:p>
          <a:p>
            <a:r>
              <a:rPr lang="en-IN" sz="1600" dirty="0"/>
              <a:t>            </a:t>
            </a:r>
            <a:r>
              <a:rPr lang="en-IN" sz="1600" dirty="0" err="1"/>
              <a:t>color</a:t>
            </a:r>
            <a:r>
              <a:rPr lang="en-IN" sz="1600" dirty="0"/>
              <a:t>: white;</a:t>
            </a:r>
          </a:p>
          <a:p>
            <a:r>
              <a:rPr lang="en-IN" sz="1600" dirty="0"/>
              <a:t>        }</a:t>
            </a:r>
          </a:p>
          <a:p>
            <a:r>
              <a:rPr lang="en-IN" sz="1600" dirty="0"/>
              <a:t>       .</a:t>
            </a:r>
            <a:r>
              <a:rPr lang="en-IN" sz="1600" dirty="0" err="1"/>
              <a:t>marginleft</a:t>
            </a:r>
            <a:r>
              <a:rPr lang="en-IN" sz="1600" dirty="0"/>
              <a:t> {</a:t>
            </a:r>
          </a:p>
          <a:p>
            <a:r>
              <a:rPr lang="en-IN" sz="1600" dirty="0"/>
              <a:t>            margin-left: 50px;</a:t>
            </a:r>
          </a:p>
          <a:p>
            <a:r>
              <a:rPr lang="en-IN" sz="1600" dirty="0"/>
              <a:t>            background-</a:t>
            </a:r>
            <a:r>
              <a:rPr lang="en-IN" sz="1600" dirty="0" err="1"/>
              <a:t>color</a:t>
            </a:r>
            <a:r>
              <a:rPr lang="en-IN" sz="1600" dirty="0"/>
              <a:t>: </a:t>
            </a:r>
            <a:r>
              <a:rPr lang="en-IN" sz="1600" dirty="0" err="1"/>
              <a:t>lightgreen</a:t>
            </a:r>
            <a:r>
              <a:rPr lang="en-IN" sz="1600" dirty="0"/>
              <a:t>;</a:t>
            </a:r>
          </a:p>
          <a:p>
            <a:r>
              <a:rPr lang="en-IN" sz="1600" dirty="0"/>
              <a:t>        }</a:t>
            </a:r>
          </a:p>
          <a:p>
            <a:r>
              <a:rPr lang="en-IN" sz="1600" dirty="0"/>
              <a:t>    &lt;/style&gt;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12481347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71DCA0-A4BC-EA20-B93F-AB019CFFEC10}"/>
              </a:ext>
            </a:extLst>
          </p:cNvPr>
          <p:cNvSpPr txBox="1"/>
          <p:nvPr/>
        </p:nvSpPr>
        <p:spPr>
          <a:xfrm>
            <a:off x="270417" y="1151006"/>
            <a:ext cx="608495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&lt;/head&gt;</a:t>
            </a:r>
          </a:p>
          <a:p>
            <a:r>
              <a:rPr lang="en-IN" sz="1800" dirty="0"/>
              <a:t>&lt;body&gt;</a:t>
            </a:r>
          </a:p>
          <a:p>
            <a:r>
              <a:rPr lang="en-IN" sz="1800" dirty="0"/>
              <a:t>    &lt;h2 class="</a:t>
            </a:r>
            <a:r>
              <a:rPr lang="en-IN" sz="1800" dirty="0" err="1"/>
              <a:t>color</a:t>
            </a:r>
            <a:r>
              <a:rPr lang="en-IN" sz="1800" dirty="0"/>
              <a:t>"&gt;1. </a:t>
            </a:r>
            <a:r>
              <a:rPr lang="en-IN" sz="1800" dirty="0" err="1"/>
              <a:t>Color</a:t>
            </a:r>
            <a:r>
              <a:rPr lang="en-IN" sz="1800" dirty="0"/>
              <a:t> Property&lt;/h2&gt;</a:t>
            </a:r>
          </a:p>
          <a:p>
            <a:r>
              <a:rPr lang="en-IN" sz="1800" dirty="0"/>
              <a:t>    &lt;h2 class="</a:t>
            </a:r>
            <a:r>
              <a:rPr lang="en-IN" sz="1800" dirty="0" err="1"/>
              <a:t>bgcolor</a:t>
            </a:r>
            <a:r>
              <a:rPr lang="en-IN" sz="1800" dirty="0"/>
              <a:t>"&gt;2. Background </a:t>
            </a:r>
            <a:r>
              <a:rPr lang="en-IN" sz="1800" dirty="0" err="1"/>
              <a:t>Color</a:t>
            </a:r>
            <a:r>
              <a:rPr lang="en-IN" sz="1800" dirty="0"/>
              <a:t> Property&lt;/h2&gt;</a:t>
            </a:r>
          </a:p>
          <a:p>
            <a:r>
              <a:rPr lang="en-IN" sz="1800" dirty="0"/>
              <a:t>    &lt;h2 class="</a:t>
            </a:r>
            <a:r>
              <a:rPr lang="en-IN" sz="1800" dirty="0" err="1"/>
              <a:t>fontweight</a:t>
            </a:r>
            <a:r>
              <a:rPr lang="en-IN" sz="1800" dirty="0"/>
              <a:t>"&gt;3. Font Weight Property&lt;/h2&gt;</a:t>
            </a:r>
          </a:p>
          <a:p>
            <a:r>
              <a:rPr lang="en-IN" sz="1800" dirty="0"/>
              <a:t>    &lt;h2 class="</a:t>
            </a:r>
            <a:r>
              <a:rPr lang="en-IN" sz="1800" dirty="0" err="1"/>
              <a:t>fontstyle</a:t>
            </a:r>
            <a:r>
              <a:rPr lang="en-IN" sz="1800" dirty="0"/>
              <a:t>"&gt;4. Font Style Property&lt;/h2&gt;</a:t>
            </a:r>
          </a:p>
          <a:p>
            <a:r>
              <a:rPr lang="en-IN" sz="1800" dirty="0"/>
              <a:t>    &lt;h2 class="decoration"&gt;5. Text Decoration Property&lt;/h2&gt;</a:t>
            </a:r>
          </a:p>
          <a:p>
            <a:r>
              <a:rPr lang="en-IN" sz="1800" dirty="0"/>
              <a:t>    &lt;h2 class="align"&gt;6. Text Align Property&lt;/h2&gt;</a:t>
            </a:r>
          </a:p>
          <a:p>
            <a:r>
              <a:rPr lang="en-IN" sz="1800" dirty="0"/>
              <a:t>    &lt;h2 class="family"&gt;7. Font Family Property&lt;/h2&gt;</a:t>
            </a:r>
          </a:p>
          <a:p>
            <a:r>
              <a:rPr lang="en-IN" sz="1800" dirty="0"/>
              <a:t>    &lt;h2 class="size"&gt;8. Font Size Property&lt;/h2&gt;</a:t>
            </a:r>
          </a:p>
          <a:p>
            <a:r>
              <a:rPr lang="en-IN" sz="1800" dirty="0"/>
              <a:t>    &lt;h2 class="spacing"&gt;9. Letter Spacing Property&lt;/h2&gt;</a:t>
            </a:r>
          </a:p>
          <a:p>
            <a:r>
              <a:rPr lang="en-IN" sz="1800" dirty="0"/>
              <a:t>    &lt;h2 class="padding"&gt;10. Padding Property&lt;/h2&gt;</a:t>
            </a:r>
          </a:p>
          <a:p>
            <a:r>
              <a:rPr lang="en-IN" sz="1800" dirty="0"/>
              <a:t>    &lt;h2 class="border"&gt;11. Border Property&lt;/h2&gt;</a:t>
            </a:r>
          </a:p>
          <a:p>
            <a:r>
              <a:rPr lang="en-IN" sz="1800" dirty="0"/>
              <a:t>    &lt;h2 class="</a:t>
            </a:r>
            <a:r>
              <a:rPr lang="en-IN" sz="1800" dirty="0" err="1"/>
              <a:t>marginleft</a:t>
            </a:r>
            <a:r>
              <a:rPr lang="en-IN" sz="1800" dirty="0"/>
              <a:t>"&gt;13. Margin Left Property&lt;/h2&gt;</a:t>
            </a:r>
          </a:p>
          <a:p>
            <a:r>
              <a:rPr lang="en-IN" sz="1800" dirty="0"/>
              <a:t>&lt;/body&gt;</a:t>
            </a:r>
          </a:p>
          <a:p>
            <a:r>
              <a:rPr lang="en-IN" sz="1800" dirty="0"/>
              <a:t>&lt;/html&gt;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7B9FD4-7C4B-500F-9A4C-2BEE37622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085" y="144615"/>
            <a:ext cx="6084950" cy="6568769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C307296-1C45-C5D2-FB6F-DD6BEC76BB03}"/>
                  </a:ext>
                </a:extLst>
              </p14:cNvPr>
              <p14:cNvContentPartPr/>
              <p14:nvPr/>
            </p14:nvContentPartPr>
            <p14:xfrm>
              <a:off x="6118920" y="5797756"/>
              <a:ext cx="2980800" cy="2408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C307296-1C45-C5D2-FB6F-DD6BEC76BB0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55920" y="5734756"/>
                <a:ext cx="3106440" cy="36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171599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591EA-CA52-665F-8BEB-A70854E11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Positioning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34811-AFD6-2490-F56E-F53D27516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Positioning is </a:t>
            </a:r>
            <a:r>
              <a:rPr lang="en-IN" b="1" i="1" u="sng" dirty="0"/>
              <a:t>about controlling the location of elements</a:t>
            </a:r>
            <a:r>
              <a:rPr lang="en-IN" dirty="0"/>
              <a:t> within a web page.</a:t>
            </a:r>
          </a:p>
          <a:p>
            <a:r>
              <a:rPr lang="en-IN" dirty="0"/>
              <a:t>It helps us decide:</a:t>
            </a:r>
          </a:p>
          <a:p>
            <a:pPr lvl="1"/>
            <a:r>
              <a:rPr lang="en-IN" dirty="0"/>
              <a:t>Where an element should appear</a:t>
            </a:r>
          </a:p>
          <a:p>
            <a:pPr lvl="1"/>
            <a:r>
              <a:rPr lang="en-IN" dirty="0"/>
              <a:t>How elements should move or stay fixed</a:t>
            </a:r>
          </a:p>
          <a:p>
            <a:pPr lvl="1"/>
            <a:r>
              <a:rPr lang="en-IN" dirty="0"/>
              <a:t>How elements should overlap with each other</a:t>
            </a:r>
          </a:p>
          <a:p>
            <a:pPr lvl="1"/>
            <a:r>
              <a:rPr lang="en-IN" dirty="0"/>
              <a:t>CSS provides different positioning methods to arrange elements on a webpage.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B3B0100-271C-2784-8EC1-80EA03FE0EAC}"/>
                  </a:ext>
                </a:extLst>
              </p14:cNvPr>
              <p14:cNvContentPartPr/>
              <p14:nvPr/>
            </p14:nvContentPartPr>
            <p14:xfrm>
              <a:off x="5374440" y="1672446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B3B0100-271C-2784-8EC1-80EA03FE0EA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65800" y="1618446"/>
                <a:ext cx="1800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198C8FC-E07D-3ADA-9A97-7D73334B6489}"/>
                  </a:ext>
                </a:extLst>
              </p14:cNvPr>
              <p14:cNvContentPartPr/>
              <p14:nvPr/>
            </p14:nvContentPartPr>
            <p14:xfrm>
              <a:off x="5263200" y="1884486"/>
              <a:ext cx="3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198C8FC-E07D-3ADA-9A97-7D73334B648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54560" y="1830486"/>
                <a:ext cx="1800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6A9CEE1-8BB2-6894-B3F3-75C6F58F958B}"/>
                  </a:ext>
                </a:extLst>
              </p14:cNvPr>
              <p14:cNvContentPartPr/>
              <p14:nvPr/>
            </p14:nvContentPartPr>
            <p14:xfrm>
              <a:off x="4460400" y="1271046"/>
              <a:ext cx="36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6A9CEE1-8BB2-6894-B3F3-75C6F58F958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51400" y="1217406"/>
                <a:ext cx="1800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57657F9-4CDE-F39F-4643-5B424A4FBD74}"/>
                  </a:ext>
                </a:extLst>
              </p14:cNvPr>
              <p14:cNvContentPartPr/>
              <p14:nvPr/>
            </p14:nvContentPartPr>
            <p14:xfrm>
              <a:off x="1349280" y="1326846"/>
              <a:ext cx="36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57657F9-4CDE-F39F-4643-5B424A4FBD7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40280" y="1272846"/>
                <a:ext cx="18000" cy="10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97285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CSS Positioning :: K-State CC 120 Textbook">
            <a:extLst>
              <a:ext uri="{FF2B5EF4-FFF2-40B4-BE49-F238E27FC236}">
                <a16:creationId xmlns:a16="http://schemas.microsoft.com/office/drawing/2014/main" id="{F5855C66-4993-A485-D0B1-844846AECB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72279" y="2468209"/>
            <a:ext cx="7319721" cy="43897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DCBBE6-90DE-10F4-9A1C-2A32D3547261}"/>
              </a:ext>
            </a:extLst>
          </p:cNvPr>
          <p:cNvSpPr txBox="1"/>
          <p:nvPr/>
        </p:nvSpPr>
        <p:spPr>
          <a:xfrm>
            <a:off x="447908" y="476809"/>
            <a:ext cx="60941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The </a:t>
            </a:r>
            <a:r>
              <a:rPr lang="en-IN" sz="2400" b="1" dirty="0"/>
              <a:t>position</a:t>
            </a:r>
            <a:r>
              <a:rPr lang="en-IN" sz="2400" dirty="0"/>
              <a:t> property is used to define how an element is placed on a webpage.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B10AA2-83BC-3E7E-A04B-2F2EDB968F0D}"/>
              </a:ext>
            </a:extLst>
          </p:cNvPr>
          <p:cNvSpPr txBox="1"/>
          <p:nvPr/>
        </p:nvSpPr>
        <p:spPr>
          <a:xfrm>
            <a:off x="302941" y="1548666"/>
            <a:ext cx="60941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highlight>
                  <a:srgbClr val="FFFF00"/>
                </a:highlight>
              </a:rPr>
              <a:t>Syntax</a:t>
            </a:r>
            <a:r>
              <a:rPr lang="en-IN" b="1" dirty="0"/>
              <a:t>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selector 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position: value; </a:t>
            </a:r>
            <a:r>
              <a:rPr lang="en-IN" dirty="0" err="1">
                <a:latin typeface="Courier New" panose="02070309020205020404" pitchFamily="49" charset="0"/>
              </a:rPr>
              <a:t>top:value</a:t>
            </a:r>
            <a:r>
              <a:rPr lang="en-IN" dirty="0">
                <a:latin typeface="Courier New" panose="02070309020205020404" pitchFamily="49" charset="0"/>
              </a:rPr>
              <a:t>; </a:t>
            </a:r>
            <a:r>
              <a:rPr lang="en-IN" dirty="0" err="1">
                <a:latin typeface="Courier New" panose="02070309020205020404" pitchFamily="49" charset="0"/>
              </a:rPr>
              <a:t>left:value</a:t>
            </a: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</a:t>
            </a:r>
            <a:r>
              <a:rPr lang="en-IN" dirty="0" err="1">
                <a:latin typeface="Courier New" panose="02070309020205020404" pitchFamily="49" charset="0"/>
              </a:rPr>
              <a:t>right:value</a:t>
            </a:r>
            <a:r>
              <a:rPr lang="en-IN" dirty="0">
                <a:latin typeface="Courier New" panose="02070309020205020404" pitchFamily="49" charset="0"/>
              </a:rPr>
              <a:t>; </a:t>
            </a:r>
            <a:r>
              <a:rPr lang="en-IN" dirty="0" err="1">
                <a:latin typeface="Courier New" panose="02070309020205020404" pitchFamily="49" charset="0"/>
              </a:rPr>
              <a:t>bottom:value</a:t>
            </a:r>
            <a:r>
              <a:rPr lang="en-IN" dirty="0">
                <a:latin typeface="Courier New" panose="02070309020205020404" pitchFamily="49" charset="0"/>
              </a:rPr>
              <a:t>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}</a:t>
            </a:r>
          </a:p>
          <a:p>
            <a:r>
              <a:rPr lang="en-IN" dirty="0">
                <a:latin typeface="Courier New" panose="02070309020205020404" pitchFamily="49" charset="0"/>
              </a:rPr>
              <a:t> </a:t>
            </a:r>
            <a:r>
              <a:rPr lang="en-IN" b="1" i="1" u="sng" dirty="0">
                <a:latin typeface="Courier New" panose="02070309020205020404" pitchFamily="49" charset="0"/>
              </a:rPr>
              <a:t>example</a:t>
            </a:r>
            <a:r>
              <a:rPr lang="en-IN" dirty="0">
                <a:latin typeface="Courier New" panose="02070309020205020404" pitchFamily="49" charset="0"/>
              </a:rPr>
              <a:t>: </a:t>
            </a:r>
            <a:r>
              <a:rPr lang="en-IN" dirty="0"/>
              <a:t>.box {</a:t>
            </a:r>
          </a:p>
          <a:p>
            <a:r>
              <a:rPr lang="en-IN" dirty="0"/>
              <a:t>		 position: absolute; </a:t>
            </a:r>
          </a:p>
          <a:p>
            <a:r>
              <a:rPr lang="en-IN" dirty="0"/>
              <a:t>		top: 50px; left: 100px;</a:t>
            </a:r>
          </a:p>
          <a:p>
            <a:r>
              <a:rPr lang="en-IN" dirty="0"/>
              <a:t> 		}</a:t>
            </a: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	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21D9152-4D45-2D3F-1E8E-9DD5B1A65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941" y="4161411"/>
            <a:ext cx="4477375" cy="22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3012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3612E-EDDC-54C1-97AB-91F930611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anchor="ctr">
            <a:normAutofit/>
          </a:bodyPr>
          <a:lstStyle/>
          <a:p>
            <a:r>
              <a:rPr lang="en-IN" sz="5400"/>
              <a:t>Types of CSS Positioning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sX0" fmla="*/ 0 w 18288"/>
              <a:gd name="csY0" fmla="*/ 0 h 5590381"/>
              <a:gd name="csX1" fmla="*/ 18288 w 18288"/>
              <a:gd name="csY1" fmla="*/ 0 h 5590381"/>
              <a:gd name="csX2" fmla="*/ 18288 w 18288"/>
              <a:gd name="csY2" fmla="*/ 754701 h 5590381"/>
              <a:gd name="csX3" fmla="*/ 18288 w 18288"/>
              <a:gd name="csY3" fmla="*/ 1565307 h 5590381"/>
              <a:gd name="csX4" fmla="*/ 18288 w 18288"/>
              <a:gd name="csY4" fmla="*/ 2152297 h 5590381"/>
              <a:gd name="csX5" fmla="*/ 18288 w 18288"/>
              <a:gd name="csY5" fmla="*/ 2906998 h 5590381"/>
              <a:gd name="csX6" fmla="*/ 18288 w 18288"/>
              <a:gd name="csY6" fmla="*/ 3549892 h 5590381"/>
              <a:gd name="csX7" fmla="*/ 18288 w 18288"/>
              <a:gd name="csY7" fmla="*/ 4080978 h 5590381"/>
              <a:gd name="csX8" fmla="*/ 18288 w 18288"/>
              <a:gd name="csY8" fmla="*/ 4835680 h 5590381"/>
              <a:gd name="csX9" fmla="*/ 18288 w 18288"/>
              <a:gd name="csY9" fmla="*/ 5590381 h 5590381"/>
              <a:gd name="csX10" fmla="*/ 0 w 18288"/>
              <a:gd name="csY10" fmla="*/ 5590381 h 5590381"/>
              <a:gd name="csX11" fmla="*/ 0 w 18288"/>
              <a:gd name="csY11" fmla="*/ 4835680 h 5590381"/>
              <a:gd name="csX12" fmla="*/ 0 w 18288"/>
              <a:gd name="csY12" fmla="*/ 4304593 h 5590381"/>
              <a:gd name="csX13" fmla="*/ 0 w 18288"/>
              <a:gd name="csY13" fmla="*/ 3773507 h 5590381"/>
              <a:gd name="csX14" fmla="*/ 0 w 18288"/>
              <a:gd name="csY14" fmla="*/ 3186517 h 5590381"/>
              <a:gd name="csX15" fmla="*/ 0 w 18288"/>
              <a:gd name="csY15" fmla="*/ 2487720 h 5590381"/>
              <a:gd name="csX16" fmla="*/ 0 w 18288"/>
              <a:gd name="csY16" fmla="*/ 1956633 h 5590381"/>
              <a:gd name="csX17" fmla="*/ 0 w 18288"/>
              <a:gd name="csY17" fmla="*/ 1425547 h 5590381"/>
              <a:gd name="csX18" fmla="*/ 0 w 18288"/>
              <a:gd name="csY18" fmla="*/ 614942 h 5590381"/>
              <a:gd name="csX19" fmla="*/ 0 w 18288"/>
              <a:gd name="csY19" fmla="*/ 0 h 55903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SS Positioning with Examples - DataFlair">
            <a:extLst>
              <a:ext uri="{FF2B5EF4-FFF2-40B4-BE49-F238E27FC236}">
                <a16:creationId xmlns:a16="http://schemas.microsoft.com/office/drawing/2014/main" id="{D565E9F5-155E-38E7-B4F7-2F785301BD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145" t="10661" r="12709" b="9631"/>
          <a:stretch>
            <a:fillRect/>
          </a:stretch>
        </p:blipFill>
        <p:spPr>
          <a:xfrm>
            <a:off x="5470342" y="1048215"/>
            <a:ext cx="5048826" cy="311942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0F664-D5F4-3DAD-8960-260924266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4798577"/>
            <a:ext cx="6894576" cy="1428487"/>
          </a:xfrm>
        </p:spPr>
        <p:txBody>
          <a:bodyPr anchor="t">
            <a:normAutofit/>
          </a:bodyPr>
          <a:lstStyle/>
          <a:p>
            <a:r>
              <a:rPr lang="en-IN" sz="1700"/>
              <a:t>Static Positioning</a:t>
            </a:r>
          </a:p>
          <a:p>
            <a:r>
              <a:rPr lang="en-IN" sz="1700"/>
              <a:t>Relative Positioning</a:t>
            </a:r>
          </a:p>
          <a:p>
            <a:r>
              <a:rPr lang="en-IN" sz="1700"/>
              <a:t>Absolute Positioning</a:t>
            </a:r>
          </a:p>
          <a:p>
            <a:r>
              <a:rPr lang="en-IN" sz="1700"/>
              <a:t>Fixed Positioning</a:t>
            </a:r>
          </a:p>
        </p:txBody>
      </p:sp>
    </p:spTree>
    <p:extLst>
      <p:ext uri="{BB962C8B-B14F-4D97-AF65-F5344CB8AC3E}">
        <p14:creationId xmlns:p14="http://schemas.microsoft.com/office/powerpoint/2010/main" val="41166791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93641-A2CC-327E-A816-9F6EB3B0F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Static Positioning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770BC-B6F8-884C-B916-663B10573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Static positioning is the </a:t>
            </a:r>
            <a:r>
              <a:rPr lang="en-IN" b="1" i="1" u="sng" dirty="0"/>
              <a:t>default position </a:t>
            </a:r>
            <a:r>
              <a:rPr lang="en-IN" dirty="0"/>
              <a:t>of every HTML element.</a:t>
            </a:r>
          </a:p>
          <a:p>
            <a:r>
              <a:rPr lang="en-IN" dirty="0"/>
              <a:t>Elements appear according to the </a:t>
            </a:r>
            <a:r>
              <a:rPr lang="en-IN" b="1" i="1" u="sng" dirty="0"/>
              <a:t>normal flow</a:t>
            </a:r>
            <a:r>
              <a:rPr lang="en-IN" dirty="0"/>
              <a:t> of the webpage.</a:t>
            </a:r>
          </a:p>
          <a:p>
            <a:r>
              <a:rPr lang="en-IN" dirty="0"/>
              <a:t>Top, bottom, left, and right properties </a:t>
            </a:r>
            <a:r>
              <a:rPr lang="en-IN" b="1" i="1" dirty="0"/>
              <a:t>do not work</a:t>
            </a:r>
            <a:r>
              <a:rPr lang="en-IN" dirty="0"/>
              <a:t> with static positioning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1251E1-C242-E6B4-5125-024C3E7D3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575" y="3429000"/>
            <a:ext cx="4715533" cy="24292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3FE8B0-C153-5782-7B0C-CB5CCF8352CC}"/>
              </a:ext>
            </a:extLst>
          </p:cNvPr>
          <p:cNvSpPr txBox="1"/>
          <p:nvPr/>
        </p:nvSpPr>
        <p:spPr>
          <a:xfrm>
            <a:off x="838200" y="4537000"/>
            <a:ext cx="60941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box {</a:t>
            </a:r>
          </a:p>
          <a:p>
            <a:r>
              <a:rPr lang="en-IN" dirty="0"/>
              <a:t> position: static;</a:t>
            </a:r>
          </a:p>
          <a:p>
            <a:r>
              <a:rPr lang="en-IN" dirty="0"/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15810811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07AE3-A9BD-7F4E-BDEB-BAD6531E0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Relative Positioning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4CE79-FCEF-47F1-73C6-C5C4A099C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Relative positioning moves an element from its original position.</a:t>
            </a:r>
          </a:p>
          <a:p>
            <a:r>
              <a:rPr lang="en-IN" dirty="0"/>
              <a:t>The original space of the element is maintained.</a:t>
            </a:r>
          </a:p>
          <a:p>
            <a:r>
              <a:rPr lang="en-IN" dirty="0"/>
              <a:t>We can move the element using top, bottom, left, and right.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0EACDD-CBC3-382A-1A04-7086141BC170}"/>
              </a:ext>
            </a:extLst>
          </p:cNvPr>
          <p:cNvSpPr txBox="1"/>
          <p:nvPr/>
        </p:nvSpPr>
        <p:spPr>
          <a:xfrm>
            <a:off x="225813" y="3563937"/>
            <a:ext cx="60941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.box { </a:t>
            </a:r>
          </a:p>
          <a:p>
            <a:r>
              <a:rPr lang="en-IN" dirty="0"/>
              <a:t>position: relative; </a:t>
            </a:r>
          </a:p>
          <a:p>
            <a:r>
              <a:rPr lang="en-IN" dirty="0"/>
              <a:t>left: 50px; </a:t>
            </a:r>
          </a:p>
          <a:p>
            <a:r>
              <a:rPr lang="en-IN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F69F7B-E3DF-EC7B-7E61-FFEFD1CB6684}"/>
              </a:ext>
            </a:extLst>
          </p:cNvPr>
          <p:cNvSpPr txBox="1"/>
          <p:nvPr/>
        </p:nvSpPr>
        <p:spPr>
          <a:xfrm>
            <a:off x="1860" y="5302249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1" u="sng" dirty="0"/>
              <a:t>Moving a book slightly away from its original place on a table.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95BF81B-DA15-E26E-B4C0-668425B6B9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629" b="4426"/>
          <a:stretch>
            <a:fillRect/>
          </a:stretch>
        </p:blipFill>
        <p:spPr>
          <a:xfrm>
            <a:off x="7082518" y="3339790"/>
            <a:ext cx="5107622" cy="3371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4697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9095D-179A-AC80-C97E-B2BB9FE32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Absolute Positioning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421ED-175F-D1A3-57F0-4F172111C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Absolute positioning places an element at a specific location.</a:t>
            </a:r>
          </a:p>
          <a:p>
            <a:r>
              <a:rPr lang="en-IN" dirty="0"/>
              <a:t>The element is removed from the normal document 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8B5922-9A67-084C-AE8F-ACF49D889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5016" y="3558766"/>
            <a:ext cx="4591691" cy="293410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0C2D7C3A-20D9-6D0C-2740-0BD36AACF52E}"/>
                  </a:ext>
                </a:extLst>
              </p14:cNvPr>
              <p14:cNvContentPartPr/>
              <p14:nvPr/>
            </p14:nvContentPartPr>
            <p14:xfrm>
              <a:off x="8838900" y="6756220"/>
              <a:ext cx="360" cy="3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0C2D7C3A-20D9-6D0C-2740-0BD36AACF52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21260" y="6738220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82" name="TextBox 81">
            <a:extLst>
              <a:ext uri="{FF2B5EF4-FFF2-40B4-BE49-F238E27FC236}">
                <a16:creationId xmlns:a16="http://schemas.microsoft.com/office/drawing/2014/main" id="{A33507EF-D5C6-73C1-A97A-F7E2537A727D}"/>
              </a:ext>
            </a:extLst>
          </p:cNvPr>
          <p:cNvSpPr txBox="1"/>
          <p:nvPr/>
        </p:nvSpPr>
        <p:spPr>
          <a:xfrm>
            <a:off x="838200" y="3816628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.box {</a:t>
            </a:r>
          </a:p>
          <a:p>
            <a:r>
              <a:rPr lang="en-IN" dirty="0"/>
              <a:t>	position: absolute</a:t>
            </a:r>
          </a:p>
          <a:p>
            <a:r>
              <a:rPr lang="en-IN" dirty="0"/>
              <a:t>	bottom: 20px;  </a:t>
            </a:r>
          </a:p>
          <a:p>
            <a:r>
              <a:rPr lang="en-IN" dirty="0"/>
              <a:t>	right: 20px;</a:t>
            </a:r>
          </a:p>
          <a:p>
            <a:r>
              <a:rPr lang="en-IN" dirty="0"/>
              <a:t>}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F93B160-08FB-AB30-FECC-2945387068D3}"/>
              </a:ext>
            </a:extLst>
          </p:cNvPr>
          <p:cNvSpPr txBox="1"/>
          <p:nvPr/>
        </p:nvSpPr>
        <p:spPr>
          <a:xfrm>
            <a:off x="479016" y="542889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"</a:t>
            </a:r>
            <a:r>
              <a:rPr lang="en-IN" dirty="0">
                <a:solidFill>
                  <a:srgbClr val="FF0000"/>
                </a:solidFill>
              </a:rPr>
              <a:t>X</a:t>
            </a:r>
            <a:r>
              <a:rPr lang="en-IN" dirty="0"/>
              <a:t>" Close Button on a Pop-up Banner</a:t>
            </a:r>
          </a:p>
        </p:txBody>
      </p:sp>
    </p:spTree>
    <p:extLst>
      <p:ext uri="{BB962C8B-B14F-4D97-AF65-F5344CB8AC3E}">
        <p14:creationId xmlns:p14="http://schemas.microsoft.com/office/powerpoint/2010/main" val="29358372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8684E4-0D9B-E0DA-B77B-1153A0EE18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6209" y="889000"/>
            <a:ext cx="11444797" cy="543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8779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714CD-EAE6-B8A3-234A-44A201007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Fixed Positioning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21458-EF81-5292-1227-5D2DC7C2B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Fixed positioning keeps an element </a:t>
            </a:r>
            <a:r>
              <a:rPr lang="en-IN" b="1" i="1" dirty="0"/>
              <a:t>fixed on the screen</a:t>
            </a:r>
            <a:r>
              <a:rPr lang="en-IN" dirty="0"/>
              <a:t>.</a:t>
            </a:r>
          </a:p>
          <a:p>
            <a:r>
              <a:rPr lang="en-IN" dirty="0"/>
              <a:t>The </a:t>
            </a:r>
            <a:r>
              <a:rPr lang="en-IN" i="1" dirty="0"/>
              <a:t>element does not move </a:t>
            </a:r>
            <a:r>
              <a:rPr lang="en-IN" dirty="0"/>
              <a:t>even when we scroll the page</a:t>
            </a:r>
          </a:p>
          <a:p>
            <a:r>
              <a:rPr lang="en-IN" dirty="0"/>
              <a:t>It is </a:t>
            </a:r>
            <a:r>
              <a:rPr lang="en-IN" i="1" dirty="0"/>
              <a:t>positioned relative </a:t>
            </a:r>
            <a:r>
              <a:rPr lang="en-IN" dirty="0"/>
              <a:t>to the browser window.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71CC3C-77E1-B76A-BF89-54D1B2748475}"/>
              </a:ext>
            </a:extLst>
          </p:cNvPr>
          <p:cNvSpPr txBox="1"/>
          <p:nvPr/>
        </p:nvSpPr>
        <p:spPr>
          <a:xfrm>
            <a:off x="1498600" y="440003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A chat support button that stays visible while scrolling.</a:t>
            </a:r>
          </a:p>
        </p:txBody>
      </p:sp>
    </p:spTree>
    <p:extLst>
      <p:ext uri="{BB962C8B-B14F-4D97-AF65-F5344CB8AC3E}">
        <p14:creationId xmlns:p14="http://schemas.microsoft.com/office/powerpoint/2010/main" val="23801976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763E9E5-F65E-335F-5553-AA7936D37D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8963432"/>
              </p:ext>
            </p:extLst>
          </p:nvPr>
        </p:nvGraphicFramePr>
        <p:xfrm>
          <a:off x="177800" y="406400"/>
          <a:ext cx="8717280" cy="367728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79320">
                  <a:extLst>
                    <a:ext uri="{9D8B030D-6E8A-4147-A177-3AD203B41FA5}">
                      <a16:colId xmlns:a16="http://schemas.microsoft.com/office/drawing/2014/main" val="4262726956"/>
                    </a:ext>
                  </a:extLst>
                </a:gridCol>
                <a:gridCol w="2179320">
                  <a:extLst>
                    <a:ext uri="{9D8B030D-6E8A-4147-A177-3AD203B41FA5}">
                      <a16:colId xmlns:a16="http://schemas.microsoft.com/office/drawing/2014/main" val="2555835444"/>
                    </a:ext>
                  </a:extLst>
                </a:gridCol>
                <a:gridCol w="2179320">
                  <a:extLst>
                    <a:ext uri="{9D8B030D-6E8A-4147-A177-3AD203B41FA5}">
                      <a16:colId xmlns:a16="http://schemas.microsoft.com/office/drawing/2014/main" val="3624698386"/>
                    </a:ext>
                  </a:extLst>
                </a:gridCol>
                <a:gridCol w="2179320">
                  <a:extLst>
                    <a:ext uri="{9D8B030D-6E8A-4147-A177-3AD203B41FA5}">
                      <a16:colId xmlns:a16="http://schemas.microsoft.com/office/drawing/2014/main" val="2002360283"/>
                    </a:ext>
                  </a:extLst>
                </a:gridCol>
              </a:tblGrid>
              <a:tr h="803012">
                <a:tc>
                  <a:txBody>
                    <a:bodyPr/>
                    <a:lstStyle/>
                    <a:p>
                      <a:r>
                        <a:rPr lang="en-IN" dirty="0"/>
                        <a:t>Position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Moves relative to...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Saves its original spot?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Scrolls with page?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443394"/>
                  </a:ext>
                </a:extLst>
              </a:tr>
              <a:tr h="465237">
                <a:tc>
                  <a:txBody>
                    <a:bodyPr/>
                    <a:lstStyle/>
                    <a:p>
                      <a:r>
                        <a:rPr lang="en-IN" dirty="0"/>
                        <a:t>static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Normal Page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754243"/>
                  </a:ext>
                </a:extLst>
              </a:tr>
              <a:tr h="803012">
                <a:tc>
                  <a:txBody>
                    <a:bodyPr/>
                    <a:lstStyle/>
                    <a:p>
                      <a:r>
                        <a:rPr lang="en-IN" dirty="0"/>
                        <a:t>relative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Its Own Original Spot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389590"/>
                  </a:ext>
                </a:extLst>
              </a:tr>
              <a:tr h="803012">
                <a:tc>
                  <a:txBody>
                    <a:bodyPr/>
                    <a:lstStyle/>
                    <a:p>
                      <a:r>
                        <a:rPr lang="en-IN" dirty="0"/>
                        <a:t>absolute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Nearest Parent Container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867717"/>
                  </a:ext>
                </a:extLst>
              </a:tr>
              <a:tr h="803012">
                <a:tc>
                  <a:txBody>
                    <a:bodyPr/>
                    <a:lstStyle/>
                    <a:p>
                      <a:r>
                        <a:rPr lang="en-IN" dirty="0"/>
                        <a:t>fixed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The Browser Window Screen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  (Stays)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878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12916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88536-34F3-BFFE-A3D8-046A5E286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Float Property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AEE81-648F-922A-278A-533D775B8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7646491" cy="4351338"/>
          </a:xfrm>
        </p:spPr>
        <p:txBody>
          <a:bodyPr/>
          <a:lstStyle/>
          <a:p>
            <a:r>
              <a:rPr lang="en-IN" dirty="0"/>
              <a:t>The float property is used to move an element to the left or right side of its container.</a:t>
            </a:r>
          </a:p>
          <a:p>
            <a:r>
              <a:rPr lang="en-IN" dirty="0"/>
              <a:t>It was mainly used for creating layouts and wrapping text around images.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E0D3E2-1237-13E0-E9F5-3060CE4C1E0F}"/>
              </a:ext>
            </a:extLst>
          </p:cNvPr>
          <p:cNvSpPr txBox="1"/>
          <p:nvPr/>
        </p:nvSpPr>
        <p:spPr>
          <a:xfrm>
            <a:off x="1613444" y="4001294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Syntax: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selector 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float: value;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361BAA-96B0-178E-FBF1-F18A07CBA35B}"/>
              </a:ext>
            </a:extLst>
          </p:cNvPr>
          <p:cNvSpPr txBox="1"/>
          <p:nvPr/>
        </p:nvSpPr>
        <p:spPr>
          <a:xfrm>
            <a:off x="5436691" y="400129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dirty="0"/>
              <a:t>Values: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Left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Right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None</a:t>
            </a:r>
            <a:endParaRPr lang="en-IN" sz="1800" dirty="0"/>
          </a:p>
        </p:txBody>
      </p:sp>
      <p:pic>
        <p:nvPicPr>
          <p:cNvPr id="8" name="Picture 7" descr="text wrap gives the paper a more funky and refreshed look and hence we  decided to include a text wrap in our newspaper">
            <a:extLst>
              <a:ext uri="{FF2B5EF4-FFF2-40B4-BE49-F238E27FC236}">
                <a16:creationId xmlns:a16="http://schemas.microsoft.com/office/drawing/2014/main" id="{A52F3D5D-BD4D-726E-522F-A81B04CAE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4691" y="70863"/>
            <a:ext cx="3415209" cy="6106100"/>
          </a:xfrm>
          <a:prstGeom prst="rect">
            <a:avLst/>
          </a:prstGeom>
        </p:spPr>
      </p:pic>
      <p:pic>
        <p:nvPicPr>
          <p:cNvPr id="9" name="Picture 8" descr="How to Wrap Text Around Images in Divi (3 ways)">
            <a:extLst>
              <a:ext uri="{FF2B5EF4-FFF2-40B4-BE49-F238E27FC236}">
                <a16:creationId xmlns:a16="http://schemas.microsoft.com/office/drawing/2014/main" id="{807C2829-A37D-6E9F-8BAC-000165BAE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896" y="3633455"/>
            <a:ext cx="4343400" cy="261097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92D08F1-D9C3-2F7E-8141-5937125A6611}"/>
              </a:ext>
            </a:extLst>
          </p:cNvPr>
          <p:cNvSpPr/>
          <p:nvPr/>
        </p:nvSpPr>
        <p:spPr>
          <a:xfrm>
            <a:off x="8610600" y="4338779"/>
            <a:ext cx="2235199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ECC200-DA00-ED18-8275-0EBB4CE004C1}"/>
              </a:ext>
            </a:extLst>
          </p:cNvPr>
          <p:cNvSpPr/>
          <p:nvPr/>
        </p:nvSpPr>
        <p:spPr>
          <a:xfrm>
            <a:off x="9321800" y="1824831"/>
            <a:ext cx="2299791" cy="14711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rgbClr val="FF0000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0757782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777BC-185A-E418-D258-3E3ACDA3A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0009"/>
          </a:xfrm>
        </p:spPr>
        <p:txBody>
          <a:bodyPr/>
          <a:lstStyle/>
          <a:p>
            <a:r>
              <a:rPr lang="en-IN" dirty="0"/>
              <a:t>Display Property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D8F8C-5737-148C-779B-DB71B1CA9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en-IN" dirty="0"/>
              <a:t>The display property controls how an element appears on a webpage.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E6E29D-8567-B2E9-6B53-D9DE1F2913D4}"/>
              </a:ext>
            </a:extLst>
          </p:cNvPr>
          <p:cNvSpPr txBox="1"/>
          <p:nvPr/>
        </p:nvSpPr>
        <p:spPr>
          <a:xfrm>
            <a:off x="711200" y="259310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Syntax: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selector 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display: value;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1E28D6-951F-C3EB-0624-3917BC15A997}"/>
              </a:ext>
            </a:extLst>
          </p:cNvPr>
          <p:cNvSpPr txBox="1"/>
          <p:nvPr/>
        </p:nvSpPr>
        <p:spPr>
          <a:xfrm>
            <a:off x="5930900" y="204722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1. Block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Takes the full width available.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Starts from a new line.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1AF0CB-250D-1CA6-D2E5-FDAA608FBA6B}"/>
              </a:ext>
            </a:extLst>
          </p:cNvPr>
          <p:cNvSpPr txBox="1"/>
          <p:nvPr/>
        </p:nvSpPr>
        <p:spPr>
          <a:xfrm>
            <a:off x="5943600" y="315032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/>
              <a:t>2. Inline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/>
              <a:t>Takes only required space.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/>
              <a:t>Does not start from a new line.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A7984E-DF6D-3EFF-5B8A-A3B8728A453F}"/>
              </a:ext>
            </a:extLst>
          </p:cNvPr>
          <p:cNvSpPr txBox="1"/>
          <p:nvPr/>
        </p:nvSpPr>
        <p:spPr>
          <a:xfrm>
            <a:off x="5930900" y="431552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3. Inline-Block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Behaves like inline but allows width and height.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F1C9EB-2BEF-1CDB-3813-D0A4796F7502}"/>
              </a:ext>
            </a:extLst>
          </p:cNvPr>
          <p:cNvSpPr txBox="1"/>
          <p:nvPr/>
        </p:nvSpPr>
        <p:spPr>
          <a:xfrm>
            <a:off x="5930900" y="509278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4. None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Hides the element completely.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element does not take any space.</a:t>
            </a:r>
          </a:p>
        </p:txBody>
      </p:sp>
    </p:spTree>
    <p:extLst>
      <p:ext uri="{BB962C8B-B14F-4D97-AF65-F5344CB8AC3E}">
        <p14:creationId xmlns:p14="http://schemas.microsoft.com/office/powerpoint/2010/main" val="6877298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9CBD876-20AF-D50D-5587-4FEF3549E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584" y="475870"/>
            <a:ext cx="8509415" cy="544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6996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40AF2-F32C-9DFB-526A-F8C00BC7E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CSS Box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06258D-8F26-B3E0-E235-8473718F39C4}"/>
              </a:ext>
            </a:extLst>
          </p:cNvPr>
          <p:cNvSpPr txBox="1"/>
          <p:nvPr/>
        </p:nvSpPr>
        <p:spPr>
          <a:xfrm>
            <a:off x="6192646" y="4059316"/>
            <a:ext cx="5999354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Content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- </a:t>
            </a:r>
            <a:r>
              <a:rPr lang="en-IN" dirty="0"/>
              <a:t>It is the text, image, or button on the webpage.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Padding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- </a:t>
            </a:r>
            <a:r>
              <a:rPr lang="en-IN" sz="2000" dirty="0"/>
              <a:t>Inside space (pushes the border away from 		      the content).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Border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- </a:t>
            </a:r>
            <a:r>
              <a:rPr lang="en-IN" sz="2000" dirty="0"/>
              <a:t>The edge outline</a:t>
            </a:r>
            <a:endParaRPr lang="en-IN" sz="20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Margin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- </a:t>
            </a:r>
            <a:r>
              <a:rPr lang="en-IN" dirty="0"/>
              <a:t>Outside space (pushes other elements away from this box).</a:t>
            </a:r>
          </a:p>
          <a:p>
            <a:pPr indent="0" algn="l"/>
            <a:endParaRPr lang="en-IN" sz="20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9" name="Picture 8" descr="CSS Box Model">
            <a:extLst>
              <a:ext uri="{FF2B5EF4-FFF2-40B4-BE49-F238E27FC236}">
                <a16:creationId xmlns:a16="http://schemas.microsoft.com/office/drawing/2014/main" id="{9FEECDC1-FDCB-8EE2-050E-2D1D3D21F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56" y="3605212"/>
            <a:ext cx="5295900" cy="3124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9A0DE44-D109-B9FB-60AA-000B3C7CB481}"/>
              </a:ext>
            </a:extLst>
          </p:cNvPr>
          <p:cNvSpPr txBox="1"/>
          <p:nvPr/>
        </p:nvSpPr>
        <p:spPr>
          <a:xfrm>
            <a:off x="1184817" y="1690688"/>
            <a:ext cx="60941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0" u="none" strike="noStrike" dirty="0">
                <a:effectLst/>
                <a:latin typeface="Google Sans"/>
              </a:rPr>
              <a:t>Every HTML element is a rectangular box.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0" u="none" strike="noStrike" dirty="0">
                <a:effectLst/>
                <a:latin typeface="Google Sans"/>
              </a:rPr>
              <a:t>By default, elements just stack on top of each other or sit side-by-side.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0" u="none" strike="noStrike" dirty="0">
                <a:effectLst/>
                <a:latin typeface="Google Sans"/>
              </a:rPr>
              <a:t>To break this default layout, we use </a:t>
            </a:r>
            <a:r>
              <a:rPr lang="en-IN" sz="1800" b="1" u="none" strike="noStrike" dirty="0">
                <a:effectLst/>
                <a:latin typeface="Google Sans"/>
              </a:rPr>
              <a:t>Display</a:t>
            </a:r>
            <a:r>
              <a:rPr lang="en-IN" sz="1800" b="0" u="none" strike="noStrike" dirty="0">
                <a:effectLst/>
                <a:latin typeface="Google Sans"/>
              </a:rPr>
              <a:t>, </a:t>
            </a:r>
            <a:r>
              <a:rPr lang="en-IN" sz="1800" b="1" u="none" strike="noStrike" dirty="0">
                <a:effectLst/>
                <a:latin typeface="Google Sans"/>
              </a:rPr>
              <a:t>Position</a:t>
            </a:r>
            <a:r>
              <a:rPr lang="en-IN" sz="1800" b="0" u="none" strike="noStrike" dirty="0">
                <a:effectLst/>
                <a:latin typeface="Google Sans"/>
              </a:rPr>
              <a:t>, and </a:t>
            </a:r>
            <a:r>
              <a:rPr lang="en-IN" sz="1800" b="1" u="none" strike="noStrike" dirty="0">
                <a:effectLst/>
                <a:latin typeface="Google Sans"/>
              </a:rPr>
              <a:t>Floats</a:t>
            </a:r>
            <a:r>
              <a:rPr lang="en-IN" sz="1800" b="0" u="none" strike="noStrike" dirty="0">
                <a:effectLst/>
                <a:latin typeface="Google Sans"/>
              </a:rPr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31610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FD12E3-4E3F-1951-CF59-41E6C1D74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095" y="434657"/>
            <a:ext cx="4887638" cy="44792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5A954C-30A3-662C-B32A-906483D9D7BA}"/>
              </a:ext>
            </a:extLst>
          </p:cNvPr>
          <p:cNvSpPr txBox="1"/>
          <p:nvPr/>
        </p:nvSpPr>
        <p:spPr>
          <a:xfrm>
            <a:off x="6604310" y="687802"/>
            <a:ext cx="60941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Heading Box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padding: 15px;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border: 4px solid red;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margin: 30px;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9A3EE-91DF-8C05-DF09-919ADE3E5F77}"/>
              </a:ext>
            </a:extLst>
          </p:cNvPr>
          <p:cNvSpPr txBox="1"/>
          <p:nvPr/>
        </p:nvSpPr>
        <p:spPr>
          <a:xfrm>
            <a:off x="6604310" y="2194998"/>
            <a:ext cx="635061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Student Card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.card 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padding: 25px;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border: 5px solid blue;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margin: 40px;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A928FC-E3EF-684F-143F-66CFF710DCEE}"/>
              </a:ext>
            </a:extLst>
          </p:cNvPr>
          <p:cNvSpPr txBox="1"/>
          <p:nvPr/>
        </p:nvSpPr>
        <p:spPr>
          <a:xfrm>
            <a:off x="459988" y="4969870"/>
            <a:ext cx="647885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Button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.</a:t>
            </a:r>
            <a:r>
              <a:rPr lang="en-IN" dirty="0" err="1">
                <a:latin typeface="Courier New" panose="02070309020205020404" pitchFamily="49" charset="0"/>
              </a:rPr>
              <a:t>btn</a:t>
            </a:r>
            <a:r>
              <a:rPr lang="en-IN" dirty="0">
                <a:latin typeface="Courier New" panose="02070309020205020404" pitchFamily="49" charset="0"/>
              </a:rPr>
              <a:t> 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padding: 15px 30px;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border: 3px solid </a:t>
            </a:r>
            <a:r>
              <a:rPr lang="en-IN" dirty="0" err="1">
                <a:latin typeface="Courier New" panose="02070309020205020404" pitchFamily="49" charset="0"/>
              </a:rPr>
              <a:t>darkgreen</a:t>
            </a:r>
            <a:r>
              <a:rPr lang="en-IN" dirty="0">
                <a:latin typeface="Courier New" panose="02070309020205020404" pitchFamily="49" charset="0"/>
              </a:rPr>
              <a:t>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margin: 20px;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}</a:t>
            </a:r>
          </a:p>
        </p:txBody>
      </p:sp>
      <p:pic>
        <p:nvPicPr>
          <p:cNvPr id="12" name="Picture 11" descr="CSS Box Model in CSS">
            <a:extLst>
              <a:ext uri="{FF2B5EF4-FFF2-40B4-BE49-F238E27FC236}">
                <a16:creationId xmlns:a16="http://schemas.microsoft.com/office/drawing/2014/main" id="{E2FFA957-9EF6-9093-B547-610773491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5343" y="3923846"/>
            <a:ext cx="3829050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522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671</TotalTime>
  <Words>2531</Words>
  <Application>Microsoft Office PowerPoint</Application>
  <PresentationFormat>Widescreen</PresentationFormat>
  <Paragraphs>479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Algerian</vt:lpstr>
      <vt:lpstr>Arial</vt:lpstr>
      <vt:lpstr>Courier New</vt:lpstr>
      <vt:lpstr>Google Sans</vt:lpstr>
      <vt:lpstr>Segoe UI</vt:lpstr>
      <vt:lpstr>Times New Roman</vt:lpstr>
      <vt:lpstr>Wingdings</vt:lpstr>
      <vt:lpstr>Office Theme</vt:lpstr>
      <vt:lpstr>CSS</vt:lpstr>
      <vt:lpstr>PowerPoint Presentation</vt:lpstr>
      <vt:lpstr>PowerPoint Presentation</vt:lpstr>
      <vt:lpstr>PowerPoint Presentation</vt:lpstr>
      <vt:lpstr>Cascading Style Sheets</vt:lpstr>
      <vt:lpstr>CSS syntax</vt:lpstr>
      <vt:lpstr>PowerPoint Presentation</vt:lpstr>
      <vt:lpstr>Types of CSS</vt:lpstr>
      <vt:lpstr>Inline CSS</vt:lpstr>
      <vt:lpstr>Internal CSS</vt:lpstr>
      <vt:lpstr>PowerPoint Presentation</vt:lpstr>
      <vt:lpstr>External CSS</vt:lpstr>
      <vt:lpstr>PowerPoint Presentation</vt:lpstr>
      <vt:lpstr>PowerPoint Presentation</vt:lpstr>
      <vt:lpstr>Selectors </vt:lpstr>
      <vt:lpstr>Id Selector</vt:lpstr>
      <vt:lpstr>PowerPoint Presentation</vt:lpstr>
      <vt:lpstr>Class Selector </vt:lpstr>
      <vt:lpstr>PowerPoint Presentation</vt:lpstr>
      <vt:lpstr>PowerPoint Presentation</vt:lpstr>
      <vt:lpstr>Universal Selector</vt:lpstr>
      <vt:lpstr>PowerPoint Presentation</vt:lpstr>
      <vt:lpstr>Group Selector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Positioning </vt:lpstr>
      <vt:lpstr>PowerPoint Presentation</vt:lpstr>
      <vt:lpstr>Types of CSS Positioning</vt:lpstr>
      <vt:lpstr>Static Positioning</vt:lpstr>
      <vt:lpstr>Relative Positioning</vt:lpstr>
      <vt:lpstr>Absolute Positioning </vt:lpstr>
      <vt:lpstr>PowerPoint Presentation</vt:lpstr>
      <vt:lpstr>Fixed Positioning </vt:lpstr>
      <vt:lpstr>PowerPoint Presentation</vt:lpstr>
      <vt:lpstr>Float Property</vt:lpstr>
      <vt:lpstr>Display Property</vt:lpstr>
      <vt:lpstr>PowerPoint Presentation</vt:lpstr>
      <vt:lpstr>CSS Box Model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DPC 5</dc:creator>
  <cp:lastModifiedBy>DPC 5</cp:lastModifiedBy>
  <cp:revision>13</cp:revision>
  <dcterms:created xsi:type="dcterms:W3CDTF">2026-07-10T22:27:20Z</dcterms:created>
  <dcterms:modified xsi:type="dcterms:W3CDTF">2026-07-11T09:47:44Z</dcterms:modified>
</cp:coreProperties>
</file>