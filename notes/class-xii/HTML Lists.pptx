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1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71678-47D7-4CF8-A16D-0AE89F4D77B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EEF66-4044-4661-A1D8-B013972AB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01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EEF66-4044-4661-A1D8-B013972ABA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53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28CB-046F-A502-E981-AE7E63485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B06E3-17A6-4774-DC50-05FE11BC4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CB403-C033-8FF3-2CDF-2E915DF6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CA38-36C3-460C-9501-A146F12E93E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293DA-11E7-392D-E32A-833A0393E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11BB1-6078-D10A-FECC-91DB3F6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9C20-FAB6-4EEA-9B3C-6212F5EEE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4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800A8-5539-00DD-4086-EE4667132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FFDC8-B771-B2F5-562D-8FCC3B213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8DB21-F651-E3F9-C7DF-B3D1F469E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CA38-36C3-460C-9501-A146F12E93E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7CBB9-C61D-A70B-2E6C-1AD4B4BD3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E7DB7-0C0D-5ABE-EDFF-8CF03355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9C20-FAB6-4EEA-9B3C-6212F5EEE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05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0A86B-3177-C5D1-7527-3477F44AF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F6200-6D85-631D-EDF5-7DBB1DEEF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CF536-E5A0-CB58-5502-31D93BF82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CA38-36C3-460C-9501-A146F12E93E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2BFE8-A139-A89C-2E28-6F2CE17B0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D531F-0E0E-FB60-D45E-E096A56AD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9C20-FAB6-4EEA-9B3C-6212F5EEE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70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92E9-3BF1-7A96-09D7-D9229021D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6D7DE-00AD-F86A-9B75-CCC001AAE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24647-C6B4-7CF6-662C-129874453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693B9-5E4C-C806-0059-1AD4279D5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CA38-36C3-460C-9501-A146F12E93E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6F9CB-8D8E-3E46-D120-1EB6A908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DD57E-3FAF-BCFC-95CA-DEEDDAD8B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9C20-FAB6-4EEA-9B3C-6212F5EEE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7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FA88-E355-B5B9-F108-A82FDED67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5113F-98F8-DCE6-809F-EA9BAC513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C91CBC-7DFB-3E8C-39D0-89B315BFC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08B70C-FA4C-F70C-93FB-949A77968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AF240-A26D-F083-D58A-A6EF24960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DD5EA4-876C-59A4-1033-13BD41CDF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CA38-36C3-460C-9501-A146F12E93E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3FD57-9E50-FA79-DC08-EDFEBD2AC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C20BD-542A-4DB1-A6C9-1FDBBC33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9C20-FAB6-4EEA-9B3C-6212F5EEE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90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1AC6-2A22-2A4E-9FE8-7E66556F2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F40888-D610-0E30-1809-550B2D2DE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CA38-36C3-460C-9501-A146F12E93E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B553F-83CE-ECAF-6085-57BBEAA8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7A6E0-07C6-2F00-5D30-05584A3B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9C20-FAB6-4EEA-9B3C-6212F5EEE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8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8DFD20-0A28-FCCD-6256-EBB523AF3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CA38-36C3-460C-9501-A146F12E93E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E023D3-7EF0-D221-E048-620A3F237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8FA24-4AA9-4FED-7879-F06DCF57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9C20-FAB6-4EEA-9B3C-6212F5EEE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2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30F46-0AD2-2F20-93F1-B86BAB8DA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1840F-18A8-071D-8EC6-87D30C922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A14D3-1B77-242C-B21E-43DFD7463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5EC47-EEB9-F9FB-64D9-BFA7610DD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CA38-36C3-460C-9501-A146F12E93E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9D85E-8CDB-D5D2-7755-C071A84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A51CC-04B2-C227-B838-0D3C57804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9C20-FAB6-4EEA-9B3C-6212F5EEE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4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B980-7214-CDD8-21DD-83B950A5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9D8A2D-D2B2-8D70-8EEB-F2E07D5468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2C349-DAEA-6200-C994-FA02CD40A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0F9BB-99E5-CEE2-B0C2-42E35FE5D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CA38-36C3-460C-9501-A146F12E93E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359B4-C820-EF52-25FB-FF53418B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53B2E-2D43-9C25-5EB3-7755C85F9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9C20-FAB6-4EEA-9B3C-6212F5EEE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6CDAA-4B32-45AC-9A5D-9D7E69B4C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D1E4F-A2E8-5386-60A5-E57DBB867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95385-B101-3A69-B155-13E86A0D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CA38-36C3-460C-9501-A146F12E93E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DB23F-480E-B9D1-7EF7-2AD3A054F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1CDF0-070F-0F2B-BE63-777D465CA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9C20-FAB6-4EEA-9B3C-6212F5EEE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63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1F9CBC-28EB-6074-FC45-32D392A8B7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ADBEB-6EA1-6157-BEE0-81CA2FF13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4043E-1CC8-1277-5D47-20C200D45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CA38-36C3-460C-9501-A146F12E93E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80F65-E070-2DD4-7E69-0F865EF0E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295DE-02C4-47FD-478F-27195031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09C20-FAB6-4EEA-9B3C-6212F5EEE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27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5598D-561F-ED98-2D2F-EB3A94581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D4E74-157B-AE27-D9F2-47EB1394F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9A80F-60F2-E7DF-4714-1DB5C0DB5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62CA38-36C3-460C-9501-A146F12E93E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B246E-223E-B20B-27F2-43171BD13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438A2-03F1-7A24-B006-E210CBDD4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09C20-FAB6-4EEA-9B3C-6212F5EEE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15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ABCDD-795B-9554-DD4F-422FC40F5E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69409-1089-5CDA-E765-11A763A69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0300" y="6436678"/>
            <a:ext cx="9144000" cy="421322"/>
          </a:xfrm>
        </p:spPr>
        <p:txBody>
          <a:bodyPr/>
          <a:lstStyle/>
          <a:p>
            <a:r>
              <a:rPr lang="en-US" dirty="0"/>
              <a:t>MORESH LONDE</a:t>
            </a:r>
          </a:p>
        </p:txBody>
      </p:sp>
      <p:pic>
        <p:nvPicPr>
          <p:cNvPr id="4" name="Picture 3" descr="Co oznacza list? | Słownik Angielsko-Polski Lingoland">
            <a:extLst>
              <a:ext uri="{FF2B5EF4-FFF2-40B4-BE49-F238E27FC236}">
                <a16:creationId xmlns:a16="http://schemas.microsoft.com/office/drawing/2014/main" id="{D308EDD2-9588-AD1A-16F1-CD4F0D34C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5767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73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B0D6E-323C-7F77-1C2D-6DB3EFDC2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AD008-BB31-EC59-4206-73E1D35FF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824" y="2623381"/>
            <a:ext cx="4772974" cy="3553581"/>
          </a:xfrm>
        </p:spPr>
        <p:txBody>
          <a:bodyPr>
            <a:normAutofit/>
          </a:bodyPr>
          <a:lstStyle/>
          <a:p>
            <a:r>
              <a:rPr lang="en-US" sz="2000" dirty="0"/>
              <a:t>Examples</a:t>
            </a:r>
          </a:p>
          <a:p>
            <a:pPr lvl="1"/>
            <a:r>
              <a:rPr lang="en-US" sz="2000" dirty="0"/>
              <a:t>Shopping List</a:t>
            </a:r>
          </a:p>
          <a:p>
            <a:pPr lvl="1"/>
            <a:r>
              <a:rPr lang="en-US" sz="2000" dirty="0"/>
              <a:t>To-Do List</a:t>
            </a:r>
          </a:p>
          <a:p>
            <a:pPr lvl="1"/>
            <a:r>
              <a:rPr lang="en-US" sz="2000" dirty="0"/>
              <a:t>Recipe Ingredients </a:t>
            </a:r>
          </a:p>
        </p:txBody>
      </p:sp>
      <p:pic>
        <p:nvPicPr>
          <p:cNvPr id="6" name="Picture 5" descr="How to Set Up Twitter Lists and Regain Some Sanity | WIRED">
            <a:extLst>
              <a:ext uri="{FF2B5EF4-FFF2-40B4-BE49-F238E27FC236}">
                <a16:creationId xmlns:a16="http://schemas.microsoft.com/office/drawing/2014/main" id="{A0572559-3608-2816-462D-84919D821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001" y="643468"/>
            <a:ext cx="3812741" cy="2545005"/>
          </a:xfrm>
          <a:prstGeom prst="rect">
            <a:avLst/>
          </a:prstGeom>
        </p:spPr>
      </p:pic>
      <p:pic>
        <p:nvPicPr>
          <p:cNvPr id="5" name="Picture 4" descr="9.1. Lists — AP CSA Java Review - Obsolete">
            <a:extLst>
              <a:ext uri="{FF2B5EF4-FFF2-40B4-BE49-F238E27FC236}">
                <a16:creationId xmlns:a16="http://schemas.microsoft.com/office/drawing/2014/main" id="{E2A0BE11-F6B3-F5BC-B8C6-D50D8CD8D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211" y="3665978"/>
            <a:ext cx="3848322" cy="256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10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5368-F977-93A8-A78F-E42A979F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F5428-E3CB-1C95-860A-EA8B0D77E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List</a:t>
            </a:r>
          </a:p>
          <a:p>
            <a:r>
              <a:rPr lang="en-US" dirty="0"/>
              <a:t>Unordered List</a:t>
            </a:r>
          </a:p>
          <a:p>
            <a:r>
              <a:rPr lang="en-US" dirty="0"/>
              <a:t>Definition List	 </a:t>
            </a:r>
          </a:p>
        </p:txBody>
      </p:sp>
    </p:spTree>
    <p:extLst>
      <p:ext uri="{BB962C8B-B14F-4D97-AF65-F5344CB8AC3E}">
        <p14:creationId xmlns:p14="http://schemas.microsoft.com/office/powerpoint/2010/main" val="700835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A9297-7304-2A1A-5C04-515757989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560832"/>
          </a:xfrm>
        </p:spPr>
        <p:txBody>
          <a:bodyPr>
            <a:normAutofit fontScale="90000"/>
          </a:bodyPr>
          <a:lstStyle/>
          <a:p>
            <a:r>
              <a:rPr lang="en-US" sz="4000"/>
              <a:t>Ordered List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14B1B3-6FCF-5A1E-203A-7AFE23BD83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514" b="2"/>
          <a:stretch>
            <a:fillRect/>
          </a:stretch>
        </p:blipFill>
        <p:spPr>
          <a:xfrm>
            <a:off x="908305" y="2478024"/>
            <a:ext cx="2932176" cy="180236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76B60-8684-7C99-70A7-D8750C068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7330" y="2560320"/>
            <a:ext cx="6885006" cy="3489960"/>
          </a:xfrm>
        </p:spPr>
        <p:txBody>
          <a:bodyPr anchor="ctr">
            <a:normAutofit fontScale="70000" lnSpcReduction="20000"/>
          </a:bodyPr>
          <a:lstStyle/>
          <a:p>
            <a:r>
              <a:rPr lang="en-US" sz="2400" dirty="0"/>
              <a:t>Used when </a:t>
            </a:r>
            <a:r>
              <a:rPr lang="en-US" sz="2400" b="1" i="1" u="sng" dirty="0"/>
              <a:t>sequence matters</a:t>
            </a:r>
            <a:r>
              <a:rPr lang="en-US" sz="2400" dirty="0"/>
              <a:t>.</a:t>
            </a:r>
          </a:p>
          <a:p>
            <a:r>
              <a:rPr lang="en-US" sz="2400" dirty="0"/>
              <a:t>Tags</a:t>
            </a:r>
          </a:p>
          <a:p>
            <a:pPr lvl="1"/>
            <a:r>
              <a:rPr lang="en-US" b="1" i="1" dirty="0"/>
              <a:t>&lt;</a:t>
            </a:r>
            <a:r>
              <a:rPr lang="en-US" b="1" i="1" dirty="0" err="1"/>
              <a:t>ol</a:t>
            </a:r>
            <a:r>
              <a:rPr lang="en-US" b="1" i="1" dirty="0"/>
              <a:t>&gt; </a:t>
            </a:r>
            <a:r>
              <a:rPr lang="en-US" dirty="0"/>
              <a:t>opens and closes the numbered list.</a:t>
            </a:r>
          </a:p>
          <a:p>
            <a:pPr lvl="1"/>
            <a:r>
              <a:rPr lang="en-US" b="1" i="1" dirty="0"/>
              <a:t>&lt;li&gt; </a:t>
            </a:r>
            <a:r>
              <a:rPr lang="en-US" dirty="0"/>
              <a:t>still defines each individual item.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Example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it-IT" dirty="0"/>
              <a:t>&lt;ol&gt;</a:t>
            </a:r>
          </a:p>
          <a:p>
            <a:pPr marL="457200" lvl="1" indent="0">
              <a:buNone/>
            </a:pPr>
            <a:r>
              <a:rPr lang="it-IT" dirty="0"/>
              <a:t>   &lt;li&gt;Boil Water&lt;/li&gt;</a:t>
            </a:r>
          </a:p>
          <a:p>
            <a:pPr marL="457200" lvl="1" indent="0">
              <a:buNone/>
            </a:pPr>
            <a:r>
              <a:rPr lang="it-IT" dirty="0"/>
              <a:t>   &lt;li&gt;Add Tea Powder&lt;/li&gt;</a:t>
            </a:r>
          </a:p>
          <a:p>
            <a:pPr marL="457200" lvl="1" indent="0">
              <a:buNone/>
            </a:pPr>
            <a:r>
              <a:rPr lang="it-IT" dirty="0"/>
              <a:t>   &lt;li&gt;Add Milk&lt;/li&gt;</a:t>
            </a:r>
          </a:p>
          <a:p>
            <a:pPr marL="457200" lvl="1" indent="0">
              <a:buNone/>
            </a:pPr>
            <a:r>
              <a:rPr lang="it-IT" dirty="0"/>
              <a:t>   &lt;li&gt;Serve&lt;/li&gt;</a:t>
            </a:r>
          </a:p>
          <a:p>
            <a:pPr marL="457200" lvl="1" indent="0">
              <a:buNone/>
            </a:pPr>
            <a:r>
              <a:rPr lang="it-IT" dirty="0"/>
              <a:t>&lt;/ol&gt;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78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6263287-6B69-305F-A01E-69D8B6A43CDD}"/>
              </a:ext>
            </a:extLst>
          </p:cNvPr>
          <p:cNvSpPr/>
          <p:nvPr/>
        </p:nvSpPr>
        <p:spPr>
          <a:xfrm>
            <a:off x="838200" y="205740"/>
            <a:ext cx="5642610" cy="28917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04163-E30A-A4AB-0B37-46970FE33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"/>
            <a:ext cx="10515600" cy="597122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&lt;ol start="50"&gt;</a:t>
            </a:r>
          </a:p>
          <a:p>
            <a:pPr marL="0" indent="0">
              <a:buNone/>
            </a:pPr>
            <a:r>
              <a:rPr lang="it-IT" dirty="0"/>
              <a:t>   &lt;li&gt;HTML&lt;/li&gt;</a:t>
            </a:r>
          </a:p>
          <a:p>
            <a:pPr marL="0" indent="0">
              <a:buNone/>
            </a:pPr>
            <a:r>
              <a:rPr lang="it-IT" dirty="0"/>
              <a:t>   &lt;li&gt;CSS&lt;/li&gt;</a:t>
            </a:r>
          </a:p>
          <a:p>
            <a:pPr marL="0" indent="0">
              <a:buNone/>
            </a:pPr>
            <a:r>
              <a:rPr lang="it-IT" dirty="0"/>
              <a:t>   &lt;li&gt;JavaScript&lt;/li&gt;</a:t>
            </a:r>
          </a:p>
          <a:p>
            <a:pPr marL="0" indent="0">
              <a:buNone/>
            </a:pPr>
            <a:r>
              <a:rPr lang="it-IT" dirty="0"/>
              <a:t>&lt;/ol&gt;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&lt;ol reversed&gt;</a:t>
            </a:r>
          </a:p>
          <a:p>
            <a:pPr marL="0" indent="0">
              <a:buNone/>
            </a:pPr>
            <a:r>
              <a:rPr lang="it-IT" dirty="0"/>
              <a:t>   &lt;li&gt;Gold Medal&lt;/li&gt;</a:t>
            </a:r>
          </a:p>
          <a:p>
            <a:pPr marL="0" indent="0">
              <a:buNone/>
            </a:pPr>
            <a:r>
              <a:rPr lang="it-IT" dirty="0"/>
              <a:t>   &lt;li&gt;Silver Medal&lt;/li&gt;</a:t>
            </a:r>
          </a:p>
          <a:p>
            <a:pPr marL="0" indent="0">
              <a:buNone/>
            </a:pPr>
            <a:r>
              <a:rPr lang="it-IT" dirty="0"/>
              <a:t>   &lt;li&gt;Bronze Medal&lt;/li&gt;</a:t>
            </a:r>
          </a:p>
          <a:p>
            <a:pPr marL="0" indent="0">
              <a:buNone/>
            </a:pPr>
            <a:r>
              <a:rPr lang="it-IT" dirty="0"/>
              <a:t>&lt;/ol&gt;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E535F6-AA57-110F-72F1-3EDF23CB9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923" y="4264891"/>
            <a:ext cx="2410161" cy="1362265"/>
          </a:xfrm>
          <a:prstGeom prst="rect">
            <a:avLst/>
          </a:prstGeom>
          <a:ln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2AD4BE-1291-D059-BA3C-0A638963C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000" y="950206"/>
            <a:ext cx="1810003" cy="11526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F6E8EF4-CAC2-1D9D-8E63-BC3796A2CFEB}"/>
              </a:ext>
            </a:extLst>
          </p:cNvPr>
          <p:cNvSpPr/>
          <p:nvPr/>
        </p:nvSpPr>
        <p:spPr>
          <a:xfrm>
            <a:off x="7760970" y="297180"/>
            <a:ext cx="3509010" cy="38404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932C08-0D12-BC70-0FE7-646120CAF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3128" y="2568083"/>
            <a:ext cx="1876687" cy="1047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EB7AB5-863D-9633-2CA4-F203F2B2B419}"/>
              </a:ext>
            </a:extLst>
          </p:cNvPr>
          <p:cNvSpPr txBox="1"/>
          <p:nvPr/>
        </p:nvSpPr>
        <p:spPr>
          <a:xfrm>
            <a:off x="8304848" y="625564"/>
            <a:ext cx="60979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 type="a"&gt;</a:t>
            </a:r>
          </a:p>
          <a:p>
            <a:r>
              <a:rPr lang="en-US" dirty="0"/>
              <a:t>   &lt;li&gt;HTML&lt;/li&gt;</a:t>
            </a:r>
          </a:p>
          <a:p>
            <a:r>
              <a:rPr lang="en-US" dirty="0"/>
              <a:t>   &lt;li&gt;CSS&lt;/li&gt;</a:t>
            </a:r>
          </a:p>
          <a:p>
            <a:r>
              <a:rPr lang="en-US" dirty="0"/>
              <a:t>   &lt;li&gt;JavaScript&lt;/li&gt;</a:t>
            </a:r>
          </a:p>
          <a:p>
            <a:r>
              <a:rPr lang="en-US" dirty="0"/>
              <a:t>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68455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53A1A-D8CD-3AF7-8D25-5A78AEBD6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Unordered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1E0C3-2463-F429-A3A6-0132E4776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when </a:t>
            </a:r>
            <a:r>
              <a:rPr lang="en-US" b="1" i="1" u="sng" dirty="0"/>
              <a:t>order doesn't matter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43CA8D-9BAA-3288-598A-24CCE52048B8}"/>
              </a:ext>
            </a:extLst>
          </p:cNvPr>
          <p:cNvSpPr txBox="1"/>
          <p:nvPr/>
        </p:nvSpPr>
        <p:spPr>
          <a:xfrm>
            <a:off x="397193" y="2809994"/>
            <a:ext cx="25174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&lt;ul&gt; </a:t>
            </a:r>
          </a:p>
          <a:p>
            <a:r>
              <a:rPr lang="en-US" dirty="0"/>
              <a:t> &lt;li&gt;Laptop&lt;/li&gt; </a:t>
            </a:r>
          </a:p>
          <a:p>
            <a:r>
              <a:rPr lang="en-US" dirty="0"/>
              <a:t> &lt;li&gt;Notebooks&lt;/li&gt; </a:t>
            </a:r>
          </a:p>
          <a:p>
            <a:r>
              <a:rPr lang="en-US" dirty="0"/>
              <a:t> &lt;li&gt;Pens&lt;/li&gt;</a:t>
            </a:r>
          </a:p>
          <a:p>
            <a:r>
              <a:rPr lang="en-US" dirty="0"/>
              <a:t>&lt;/ul&gt;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463FAA-FD17-31EE-E6B9-CFEA69880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93" y="4445119"/>
            <a:ext cx="1524213" cy="12765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18D0C8-FF85-2551-5276-AE3075496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787" y="4588014"/>
            <a:ext cx="1886213" cy="11336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9E8E0A-B1D1-A321-BA63-0C164E876D5E}"/>
              </a:ext>
            </a:extLst>
          </p:cNvPr>
          <p:cNvSpPr txBox="1"/>
          <p:nvPr/>
        </p:nvSpPr>
        <p:spPr>
          <a:xfrm>
            <a:off x="3416617" y="2932369"/>
            <a:ext cx="37176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&lt;ul style="</a:t>
            </a:r>
            <a:r>
              <a:rPr lang="en-US" dirty="0" err="1"/>
              <a:t>list-style-type:square</a:t>
            </a:r>
            <a:r>
              <a:rPr lang="en-US" dirty="0"/>
              <a:t>;"&gt;</a:t>
            </a:r>
          </a:p>
          <a:p>
            <a:r>
              <a:rPr lang="en-US" dirty="0"/>
              <a:t>   &lt;li&gt;Notebook&lt;/li&gt;</a:t>
            </a:r>
          </a:p>
          <a:p>
            <a:r>
              <a:rPr lang="en-US" dirty="0"/>
              <a:t>   &lt;li&gt;Pen&lt;/li&gt;</a:t>
            </a:r>
          </a:p>
          <a:p>
            <a:r>
              <a:rPr lang="en-US" dirty="0"/>
              <a:t>&lt;/ul&gt;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992837-DC15-DFC1-33F3-9ABA08E01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362" y="4640408"/>
            <a:ext cx="1438476" cy="10288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F68387-4529-A06D-27DF-3FBC68105C23}"/>
              </a:ext>
            </a:extLst>
          </p:cNvPr>
          <p:cNvSpPr txBox="1"/>
          <p:nvPr/>
        </p:nvSpPr>
        <p:spPr>
          <a:xfrm>
            <a:off x="8112443" y="3050917"/>
            <a:ext cx="36823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&lt;ul style="</a:t>
            </a:r>
            <a:r>
              <a:rPr lang="en-US" dirty="0" err="1"/>
              <a:t>list-style-type:Circle</a:t>
            </a:r>
            <a:r>
              <a:rPr lang="en-US" dirty="0"/>
              <a:t>;"&gt;</a:t>
            </a:r>
          </a:p>
          <a:p>
            <a:r>
              <a:rPr lang="en-US" dirty="0"/>
              <a:t>   &lt;li&gt;Notebook&lt;/li&gt;</a:t>
            </a:r>
          </a:p>
          <a:p>
            <a:r>
              <a:rPr lang="en-US" dirty="0"/>
              <a:t>   &lt;li&gt;Pen&lt;/li&gt;</a:t>
            </a:r>
          </a:p>
          <a:p>
            <a:r>
              <a:rPr lang="en-US" dirty="0"/>
              <a:t>&lt;/ul&gt;</a:t>
            </a:r>
          </a:p>
        </p:txBody>
      </p:sp>
    </p:spTree>
    <p:extLst>
      <p:ext uri="{BB962C8B-B14F-4D97-AF65-F5344CB8AC3E}">
        <p14:creationId xmlns:p14="http://schemas.microsoft.com/office/powerpoint/2010/main" val="2570679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83DC-B911-759F-6076-3A287923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Definition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44EEB-9789-6CDE-25D4-0392F4112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definition list is a </a:t>
            </a:r>
            <a:r>
              <a:rPr lang="en-US" b="1" i="1" dirty="0"/>
              <a:t>list of terms</a:t>
            </a:r>
            <a:r>
              <a:rPr lang="en-US" dirty="0"/>
              <a:t>, with a </a:t>
            </a:r>
            <a:r>
              <a:rPr lang="en-US" b="1" i="1" dirty="0"/>
              <a:t>description of each term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&lt;dl&gt; </a:t>
            </a:r>
            <a:r>
              <a:rPr lang="en-US" dirty="0"/>
              <a:t>tag </a:t>
            </a:r>
            <a:r>
              <a:rPr lang="en-US" i="1" u="sng" dirty="0"/>
              <a:t>defines</a:t>
            </a:r>
            <a:r>
              <a:rPr lang="en-US" dirty="0"/>
              <a:t> the description list,</a:t>
            </a:r>
          </a:p>
          <a:p>
            <a:pPr marL="0" indent="0">
              <a:buNone/>
            </a:pPr>
            <a:r>
              <a:rPr lang="en-US" b="1" dirty="0"/>
              <a:t>&lt;dt&gt; </a:t>
            </a:r>
            <a:r>
              <a:rPr lang="en-US" dirty="0"/>
              <a:t>tag </a:t>
            </a:r>
            <a:r>
              <a:rPr lang="en-US" i="1" u="sng" dirty="0"/>
              <a:t>defines the term </a:t>
            </a:r>
            <a:r>
              <a:rPr lang="en-US" dirty="0"/>
              <a:t>(name)</a:t>
            </a:r>
          </a:p>
          <a:p>
            <a:pPr marL="0" indent="0">
              <a:buNone/>
            </a:pPr>
            <a:r>
              <a:rPr lang="en-US" b="1" dirty="0"/>
              <a:t>&lt;dd&gt; </a:t>
            </a:r>
            <a:r>
              <a:rPr lang="en-US" dirty="0"/>
              <a:t>tag </a:t>
            </a:r>
            <a:r>
              <a:rPr lang="en-US" i="1" u="sng" dirty="0"/>
              <a:t>describes each term</a:t>
            </a:r>
          </a:p>
          <a:p>
            <a:pPr marL="0" indent="0">
              <a:buNone/>
            </a:pPr>
            <a:endParaRPr lang="en-US" i="1" u="sng" dirty="0"/>
          </a:p>
        </p:txBody>
      </p:sp>
      <p:pic>
        <p:nvPicPr>
          <p:cNvPr id="4" name="Picture 3" descr="HTML - Definition Lists">
            <a:extLst>
              <a:ext uri="{FF2B5EF4-FFF2-40B4-BE49-F238E27FC236}">
                <a16:creationId xmlns:a16="http://schemas.microsoft.com/office/drawing/2014/main" id="{59F81C55-0E66-2D50-7E9B-372105364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813" y="77200"/>
            <a:ext cx="3160333" cy="17484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07749E-4DEC-31EC-7ED9-F3EB6C661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058" y="4276303"/>
            <a:ext cx="2811942" cy="18093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BFC500-8AF1-544F-05C4-93A3A9AB3D86}"/>
              </a:ext>
            </a:extLst>
          </p:cNvPr>
          <p:cNvSpPr txBox="1"/>
          <p:nvPr/>
        </p:nvSpPr>
        <p:spPr>
          <a:xfrm>
            <a:off x="7175183" y="2618453"/>
            <a:ext cx="60979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&lt;dl&gt;</a:t>
            </a:r>
          </a:p>
          <a:p>
            <a:endParaRPr lang="en-US" dirty="0"/>
          </a:p>
          <a:p>
            <a:r>
              <a:rPr lang="en-US" dirty="0"/>
              <a:t>&lt;dt&gt;HTML&lt;/dt&gt;</a:t>
            </a:r>
          </a:p>
          <a:p>
            <a:endParaRPr lang="en-US" dirty="0"/>
          </a:p>
          <a:p>
            <a:r>
              <a:rPr lang="en-US" dirty="0"/>
              <a:t>&lt;dd&gt;</a:t>
            </a:r>
            <a:r>
              <a:rPr lang="en-US" dirty="0" err="1"/>
              <a:t>HyperText</a:t>
            </a:r>
            <a:r>
              <a:rPr lang="en-US" dirty="0"/>
              <a:t> Markup Language&lt;/dd&gt;</a:t>
            </a:r>
          </a:p>
          <a:p>
            <a:endParaRPr lang="en-US" dirty="0"/>
          </a:p>
          <a:p>
            <a:r>
              <a:rPr lang="en-US" dirty="0"/>
              <a:t>&lt;dt&gt;CSS&lt;/dt&gt;</a:t>
            </a:r>
          </a:p>
          <a:p>
            <a:endParaRPr lang="en-US" dirty="0"/>
          </a:p>
          <a:p>
            <a:r>
              <a:rPr lang="en-US" dirty="0"/>
              <a:t>&lt;dd&gt;Styles a web page&lt;/dd&gt;</a:t>
            </a:r>
          </a:p>
          <a:p>
            <a:endParaRPr lang="en-US" dirty="0"/>
          </a:p>
          <a:p>
            <a:r>
              <a:rPr lang="en-US" dirty="0"/>
              <a:t>&lt;dt&gt;JavaScript&lt;/dt&gt;</a:t>
            </a:r>
          </a:p>
          <a:p>
            <a:endParaRPr lang="en-US" dirty="0"/>
          </a:p>
          <a:p>
            <a:r>
              <a:rPr lang="en-US" dirty="0"/>
              <a:t>&lt;dd&gt;Adds interactivity&lt;/dd&gt;</a:t>
            </a:r>
          </a:p>
          <a:p>
            <a:endParaRPr lang="en-US" dirty="0"/>
          </a:p>
          <a:p>
            <a:r>
              <a:rPr lang="en-US" dirty="0"/>
              <a:t>&lt;/dl&gt;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68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F660-50D4-652A-2348-9EE8DFA60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Nested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8F4B3-1534-BF54-DE5E-6D22E0349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inside another list.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5C18A-B079-CDEE-4695-CB7061B34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118" y="3429000"/>
            <a:ext cx="2896004" cy="13908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E29B1C-63E5-671A-1CB5-D1CBD43A7A99}"/>
              </a:ext>
            </a:extLst>
          </p:cNvPr>
          <p:cNvSpPr txBox="1"/>
          <p:nvPr/>
        </p:nvSpPr>
        <p:spPr>
          <a:xfrm>
            <a:off x="3154883" y="2811780"/>
            <a:ext cx="40833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&lt;ul&gt;</a:t>
            </a:r>
          </a:p>
          <a:p>
            <a:r>
              <a:rPr lang="en-US" dirty="0"/>
              <a:t>   &lt;li&gt;Science</a:t>
            </a:r>
          </a:p>
          <a:p>
            <a:r>
              <a:rPr lang="en-US" dirty="0"/>
              <a:t>         &lt;ul&gt;</a:t>
            </a:r>
          </a:p>
          <a:p>
            <a:r>
              <a:rPr lang="en-US" dirty="0"/>
              <a:t>	&lt;li&gt;Physics&lt;/li&gt;</a:t>
            </a:r>
          </a:p>
          <a:p>
            <a:r>
              <a:rPr lang="en-US" dirty="0"/>
              <a:t>	&lt;li&gt;Chemistry&lt;/li&gt;</a:t>
            </a:r>
          </a:p>
          <a:p>
            <a:r>
              <a:rPr lang="en-US" dirty="0"/>
              <a:t>	&lt;li&gt;Biology&lt;/li&gt;</a:t>
            </a:r>
          </a:p>
          <a:p>
            <a:r>
              <a:rPr lang="en-US" dirty="0"/>
              <a:t>       &lt;/ul&gt;</a:t>
            </a:r>
          </a:p>
          <a:p>
            <a:r>
              <a:rPr lang="en-US" dirty="0"/>
              <a:t>  &lt;/li&gt;</a:t>
            </a:r>
          </a:p>
          <a:p>
            <a:r>
              <a:rPr lang="en-US" dirty="0"/>
              <a:t>  &lt;li&gt;Commerce&lt;/li&gt;</a:t>
            </a:r>
          </a:p>
          <a:p>
            <a:r>
              <a:rPr lang="en-US" dirty="0"/>
              <a:t>&lt;/ul&gt;  </a:t>
            </a:r>
          </a:p>
        </p:txBody>
      </p:sp>
    </p:spTree>
    <p:extLst>
      <p:ext uri="{BB962C8B-B14F-4D97-AF65-F5344CB8AC3E}">
        <p14:creationId xmlns:p14="http://schemas.microsoft.com/office/powerpoint/2010/main" val="1865556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447</Words>
  <Application>Microsoft Office PowerPoint</Application>
  <PresentationFormat>Widescreen</PresentationFormat>
  <Paragraphs>89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Times New Roman</vt:lpstr>
      <vt:lpstr>Office Theme</vt:lpstr>
      <vt:lpstr>HTML Lists</vt:lpstr>
      <vt:lpstr>List</vt:lpstr>
      <vt:lpstr>Types Of Lists</vt:lpstr>
      <vt:lpstr>Ordered List</vt:lpstr>
      <vt:lpstr>PowerPoint Presentation</vt:lpstr>
      <vt:lpstr>Unordered List</vt:lpstr>
      <vt:lpstr>Definition List</vt:lpstr>
      <vt:lpstr>Nested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Moresh Londe</dc:creator>
  <cp:lastModifiedBy>Moresh Londe</cp:lastModifiedBy>
  <cp:revision>1</cp:revision>
  <dcterms:created xsi:type="dcterms:W3CDTF">2026-07-15T14:43:27Z</dcterms:created>
  <dcterms:modified xsi:type="dcterms:W3CDTF">2026-07-15T15:18:21Z</dcterms:modified>
</cp:coreProperties>
</file>