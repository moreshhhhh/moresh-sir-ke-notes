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9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49C4A0-1C12-62B4-159A-18688511F6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7F4082-3D56-9094-A2B7-8485B6C7FD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075187-57F8-0C07-7687-9F8EF598F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5E5C4-20F8-46BE-A9B0-23B9DAAC80D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5BEB33-367E-450F-2223-91FB10015C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DCE6D6-FED2-3D3E-6150-AB504C5FD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C6C2-78DA-4C65-ADF4-EAA277F61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51959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D4B4D-8B55-386F-8479-FBED583A9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BD679C-55BF-1C45-D8ED-6678144A2A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9704D3-9CD9-22CB-4607-D448BBF5C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5E5C4-20F8-46BE-A9B0-23B9DAAC80D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CAE-AC06-E922-EDEE-25946923A6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C91EC-7EFE-CED5-09C9-8F77EB1AB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C6C2-78DA-4C65-ADF4-EAA277F61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38900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71E9C0-DF8C-ED42-E4A2-2027E614B2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BB425D-F330-608B-EDA2-FC3B9F926E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8D621-7603-DF50-FBF1-074CB818DC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5E5C4-20F8-46BE-A9B0-23B9DAAC80D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2DD62A-6461-0B38-3BB2-D4DA06B0A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051138-7B7E-34B6-9F04-3E89D7E74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C6C2-78DA-4C65-ADF4-EAA277F61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4111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F62DBB-1F7D-A77B-0AD7-1FB986D1F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9A8A3B-7068-546B-191A-2C5E6A2CE6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CB2DB0-62A0-2380-A09E-2DA7079019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768D30-54C2-AACF-DE60-0D909C0999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5E5C4-20F8-46BE-A9B0-23B9DAAC80D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97CFDC-0A1D-383A-220E-E03DFEBA4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A4EA0-4D6A-AC0F-BE0E-4180F8CB0D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C6C2-78DA-4C65-ADF4-EAA277F61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470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F5BA16-CB77-B35A-DEA3-EF6673D90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448F2-4648-3D5C-DF2F-48E98660C9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81AF6-7E26-A23E-7FF0-35822E5ED4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DE5E1C-2823-803D-07AA-F5EAD9742C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DF6E7E-A0EC-BE3E-9B0F-39A4C547BE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C310D1-450B-7F92-DD51-E86518C93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5E5C4-20F8-46BE-A9B0-23B9DAAC80D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1CD9A97-980D-4F37-80CB-A487F95F1E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67D5C1D-0DA5-54A2-BBE6-505B0D94F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C6C2-78DA-4C65-ADF4-EAA277F61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39679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26BFB-3C2D-E9AE-99CB-D72C210D1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0CD3C1-0917-E1CF-2413-334FA425C4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5E5C4-20F8-46BE-A9B0-23B9DAAC80D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FA15EDC-44B1-BE32-5069-2D19D222DB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FC648D-1072-D4E2-57E2-5E152D569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C6C2-78DA-4C65-ADF4-EAA277F61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5403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7956F3D-CDA8-AE8A-5EE2-F2A6EF3A2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5E5C4-20F8-46BE-A9B0-23B9DAAC80D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E5F99D-44F0-49DA-D677-CD4A28668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414F8E-54F3-B1CC-88ED-6B3C87156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C6C2-78DA-4C65-ADF4-EAA277F61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2526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0C916-5C5C-9FF2-4F34-DE95EE8361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C26D7C-0D23-CA6C-10EF-CB1927DE54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3FEC57B-250B-0F18-8895-F904F43AED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63D1B-C977-2B2D-4657-B9588CA2F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5E5C4-20F8-46BE-A9B0-23B9DAAC80D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80C59-4017-A3C5-904D-24F1C2EB3E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FCBBB-DBA5-1FB2-0AEC-1740A88B8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C6C2-78DA-4C65-ADF4-EAA277F61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5293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88CBC-05B3-70FD-3260-51FAA985D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8A696E-A819-3FCA-12D1-B35BDB7CB2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350910-2ADE-5481-DC6D-E40E7BA16E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FB963A-24EE-1DA6-20C6-92511B50EE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5E5C4-20F8-46BE-A9B0-23B9DAAC80D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A2F9E9A-8913-06D2-493F-AD256DF40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FDDAB1-8C88-C6CC-3A8F-ED790C9C3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C6C2-78DA-4C65-ADF4-EAA277F61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807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E96E7E-16AF-D41F-900E-3C850A0B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A920B4B-4828-F5DF-D08F-D87120BC7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FB08AF-2A7C-6C08-7A8F-8FA95079D1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5E5C4-20F8-46BE-A9B0-23B9DAAC80D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E229AB-9F9C-432F-9B3C-43A535C12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7CC76F-38A1-5B7E-4EB6-C007F37D1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C6C2-78DA-4C65-ADF4-EAA277F61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5491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4EF501C-63C6-4242-1FF2-C928B4D2CD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E9002D-2AA3-2CEA-8E92-5B1142371C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8B2591-6C1E-C997-636C-5A4877C070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65E5C4-20F8-46BE-A9B0-23B9DAAC80D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E5DF8-04F2-5591-3D0B-0681BF070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6FC9FC-08DC-209C-F306-9FE3D0C9D3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A2C6C2-78DA-4C65-ADF4-EAA277F61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8026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752CDF-1BBD-A449-8B58-D00762818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63FA64-0751-AD7E-6F03-9B43D1EC40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A6DEF-C61E-6666-0D02-3A4A3A668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65E5C4-20F8-46BE-A9B0-23B9DAAC80D1}" type="datetimeFigureOut">
              <a:rPr lang="en-IN" smtClean="0"/>
              <a:t>25-07-2026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167EE8-F1EB-A1BC-9F80-038C52F8DD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06B0BB-26DF-127A-9512-4343788CF9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A2C6C2-78DA-4C65-ADF4-EAA277F619B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4782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eta Tags for SEO: Definition, Examples, &amp; Best Practices">
            <a:extLst>
              <a:ext uri="{FF2B5EF4-FFF2-40B4-BE49-F238E27FC236}">
                <a16:creationId xmlns:a16="http://schemas.microsoft.com/office/drawing/2014/main" id="{74F5C87F-8F0A-7312-3995-D30AFBB02E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2250" y="2782094"/>
            <a:ext cx="6667500" cy="40005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7CE9EB-4C46-63D1-B976-DD4F7C3E48A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b="1"/>
              <a:t> Meta Tag</a:t>
            </a:r>
            <a:br>
              <a:rPr lang="en-IN" b="1"/>
            </a:br>
            <a:r>
              <a:rPr lang="en-IN" sz="2800" b="1"/>
              <a:t>Understanding </a:t>
            </a:r>
            <a:r>
              <a:rPr lang="en-IN" sz="2800"/>
              <a:t>&lt;meta&gt;</a:t>
            </a:r>
            <a:r>
              <a:rPr lang="en-IN" sz="2800" b="1"/>
              <a:t> Tag and Its Attributes</a:t>
            </a:r>
            <a:br>
              <a:rPr lang="en-IN" b="1"/>
            </a:b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A19167-BE8F-62E4-6C27-6CDE543B87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80960" y="6306312"/>
            <a:ext cx="4693920" cy="758952"/>
          </a:xfrm>
        </p:spPr>
        <p:txBody>
          <a:bodyPr>
            <a:normAutofit/>
          </a:bodyPr>
          <a:lstStyle/>
          <a:p>
            <a:r>
              <a:rPr lang="en-IN"/>
              <a:t>Prepared by: </a:t>
            </a:r>
            <a:r>
              <a:rPr lang="en-IN" b="1" i="1"/>
              <a:t>MORESH LONDE</a:t>
            </a:r>
            <a:endParaRPr lang="en-IN" b="1" i="1" dirty="0"/>
          </a:p>
        </p:txBody>
      </p:sp>
      <p:pic>
        <p:nvPicPr>
          <p:cNvPr id="5" name="Picture 4" descr="Meta Tags Icons - Free SVG &amp; PNG Meta Tags Images - Noun Project">
            <a:extLst>
              <a:ext uri="{FF2B5EF4-FFF2-40B4-BE49-F238E27FC236}">
                <a16:creationId xmlns:a16="http://schemas.microsoft.com/office/drawing/2014/main" id="{8F10561B-5411-FC17-9612-60C9F0B8A4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0" y="254159"/>
            <a:ext cx="2539682" cy="2539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254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TML Meta Tags For SEO And How To Use Them -Netotraffic">
            <a:extLst>
              <a:ext uri="{FF2B5EF4-FFF2-40B4-BE49-F238E27FC236}">
                <a16:creationId xmlns:a16="http://schemas.microsoft.com/office/drawing/2014/main" id="{D1CA0180-7CDA-25EC-6F79-D360D495DC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69552" y="2631948"/>
            <a:ext cx="2767584" cy="115316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1B33F5D-480D-1BC5-D979-EF894B777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           What is a Meta Tag?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EDECC-E310-A0F1-CCA8-C90C12EC95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 </a:t>
            </a:r>
            <a:r>
              <a:rPr lang="en-IN" b="1" dirty="0"/>
              <a:t>&lt;meta&gt; </a:t>
            </a:r>
            <a:r>
              <a:rPr lang="en-IN" dirty="0"/>
              <a:t>tag </a:t>
            </a:r>
            <a:r>
              <a:rPr lang="en-IN" b="1" i="1" dirty="0"/>
              <a:t>defines metadata about an HTML document</a:t>
            </a:r>
            <a:r>
              <a:rPr lang="en-IN" dirty="0"/>
              <a:t>.</a:t>
            </a:r>
          </a:p>
          <a:p>
            <a:r>
              <a:rPr lang="en-IN" dirty="0"/>
              <a:t>Meta tags provide </a:t>
            </a:r>
            <a:r>
              <a:rPr lang="en-IN" b="1" dirty="0"/>
              <a:t>information about a webpage.</a:t>
            </a:r>
          </a:p>
          <a:p>
            <a:r>
              <a:rPr lang="en-IN" dirty="0"/>
              <a:t>They are written inside the &lt;head&gt; section.</a:t>
            </a:r>
          </a:p>
          <a:p>
            <a:r>
              <a:rPr lang="en-IN" dirty="0"/>
              <a:t>They are </a:t>
            </a:r>
            <a:r>
              <a:rPr lang="en-IN" b="1" dirty="0"/>
              <a:t>not displayed</a:t>
            </a:r>
            <a:r>
              <a:rPr lang="en-IN" dirty="0"/>
              <a:t> on the webpage.</a:t>
            </a:r>
          </a:p>
          <a:p>
            <a:r>
              <a:rPr lang="en-IN" dirty="0"/>
              <a:t>They help browsers, search engines, and other applications understand the page.</a:t>
            </a:r>
          </a:p>
          <a:p>
            <a:endParaRPr lang="en-IN" b="1" dirty="0"/>
          </a:p>
          <a:p>
            <a:endParaRPr lang="en-IN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CEF5A0-4DD7-DE77-C2AA-32A2F4DE03D0}"/>
              </a:ext>
            </a:extLst>
          </p:cNvPr>
          <p:cNvSpPr txBox="1"/>
          <p:nvPr/>
        </p:nvSpPr>
        <p:spPr>
          <a:xfrm>
            <a:off x="9070848" y="230188"/>
            <a:ext cx="33649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i="1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Metadata</a:t>
            </a:r>
            <a:r>
              <a:rPr lang="en-IN" sz="2000" b="0" i="0" dirty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 is data (information) about data.</a:t>
            </a:r>
            <a:endParaRPr lang="en-IN"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1BC7664-D9E7-4C61-E049-87526279F142}"/>
              </a:ext>
            </a:extLst>
          </p:cNvPr>
          <p:cNvSpPr txBox="1"/>
          <p:nvPr/>
        </p:nvSpPr>
        <p:spPr>
          <a:xfrm>
            <a:off x="3925824" y="6017018"/>
            <a:ext cx="682752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4000" dirty="0"/>
              <a:t>&lt;meta attribute="value"&gt;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7D5FD1-A08A-BF74-1C6E-27D860D16279}"/>
              </a:ext>
            </a:extLst>
          </p:cNvPr>
          <p:cNvSpPr txBox="1"/>
          <p:nvPr/>
        </p:nvSpPr>
        <p:spPr>
          <a:xfrm>
            <a:off x="3325368" y="5832352"/>
            <a:ext cx="62179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buNone/>
            </a:pPr>
            <a:r>
              <a:rPr lang="en-IN" b="1" i="0" dirty="0">
                <a:solidFill>
                  <a:srgbClr val="0D0D0D"/>
                </a:solidFill>
                <a:effectLst/>
                <a:latin typeface="-apple-system-body"/>
              </a:rPr>
              <a:t>Syntax</a:t>
            </a:r>
          </a:p>
        </p:txBody>
      </p:sp>
      <p:pic>
        <p:nvPicPr>
          <p:cNvPr id="12" name="Picture 11" descr="Meta Tags for SEO: A Simple Guide for Beginners">
            <a:extLst>
              <a:ext uri="{FF2B5EF4-FFF2-40B4-BE49-F238E27FC236}">
                <a16:creationId xmlns:a16="http://schemas.microsoft.com/office/drawing/2014/main" id="{BF120B96-402D-BACE-692D-32264B1C0F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84632" y="-14426"/>
            <a:ext cx="3810000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3717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Let's Dig into &lt;meta charset=“utf-8”/&gt;">
            <a:extLst>
              <a:ext uri="{FF2B5EF4-FFF2-40B4-BE49-F238E27FC236}">
                <a16:creationId xmlns:a16="http://schemas.microsoft.com/office/drawing/2014/main" id="{D60A3484-3FE7-C2BF-9D38-0134EB6006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9792" y="3986869"/>
            <a:ext cx="5315712" cy="279074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07995D9-99FE-D8CA-526B-A9B124D73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Attributes of Meta Tag</a:t>
            </a:r>
            <a:endParaRPr lang="en-IN" dirty="0"/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C743D3FC-2EBB-0024-25CA-41F68998F19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61627442"/>
              </p:ext>
            </p:extLst>
          </p:nvPr>
        </p:nvGraphicFramePr>
        <p:xfrm>
          <a:off x="862584" y="1475756"/>
          <a:ext cx="10515600" cy="222504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2906579260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5602306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</a:rPr>
                        <a:t>Attribute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1" kern="1200" dirty="0">
                          <a:solidFill>
                            <a:schemeClr val="lt1"/>
                          </a:solidFill>
                          <a:effectLst/>
                        </a:rPr>
                        <a:t>Purpose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80748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endParaRPr lang="en-IN" b="1" i="0" dirty="0">
                        <a:solidFill>
                          <a:srgbClr val="0D0D0D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endParaRPr lang="en-IN" b="1" i="0" dirty="0">
                        <a:solidFill>
                          <a:srgbClr val="0D0D0D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90061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IN" b="0">
                          <a:solidFill>
                            <a:srgbClr val="0D0D0D"/>
                          </a:solidFill>
                          <a:effectLst/>
                        </a:rPr>
                        <a:t>name</a:t>
                      </a:r>
                      <a:endParaRPr lang="en-IN" b="0" i="0">
                        <a:solidFill>
                          <a:srgbClr val="0D0D0D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IN" b="0" dirty="0">
                          <a:solidFill>
                            <a:srgbClr val="0D0D0D"/>
                          </a:solidFill>
                          <a:effectLst/>
                        </a:rPr>
                        <a:t>Specifies the type of metadata</a:t>
                      </a:r>
                      <a:endParaRPr lang="en-IN" b="0" i="0" dirty="0">
                        <a:solidFill>
                          <a:srgbClr val="0D0D0D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18785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IN" b="0">
                          <a:solidFill>
                            <a:srgbClr val="0D0D0D"/>
                          </a:solidFill>
                          <a:effectLst/>
                        </a:rPr>
                        <a:t>content</a:t>
                      </a:r>
                      <a:endParaRPr lang="en-IN" b="0" i="0">
                        <a:solidFill>
                          <a:srgbClr val="0D0D0D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IN" b="0">
                          <a:solidFill>
                            <a:srgbClr val="0D0D0D"/>
                          </a:solidFill>
                          <a:effectLst/>
                        </a:rPr>
                        <a:t>Stores the metadata value</a:t>
                      </a:r>
                      <a:endParaRPr lang="en-IN" b="0" i="0">
                        <a:solidFill>
                          <a:srgbClr val="0D0D0D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8696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IN" b="0">
                          <a:solidFill>
                            <a:srgbClr val="0D0D0D"/>
                          </a:solidFill>
                          <a:effectLst/>
                        </a:rPr>
                        <a:t>charset</a:t>
                      </a:r>
                      <a:endParaRPr lang="en-IN" b="0" i="0">
                        <a:solidFill>
                          <a:srgbClr val="0D0D0D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IN" b="0">
                          <a:solidFill>
                            <a:srgbClr val="0D0D0D"/>
                          </a:solidFill>
                          <a:effectLst/>
                        </a:rPr>
                        <a:t>Defines character encoding</a:t>
                      </a:r>
                      <a:endParaRPr lang="en-IN" b="0" i="0">
                        <a:solidFill>
                          <a:srgbClr val="0D0D0D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45500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IN" b="0">
                          <a:solidFill>
                            <a:srgbClr val="0D0D0D"/>
                          </a:solidFill>
                          <a:effectLst/>
                        </a:rPr>
                        <a:t>http-equiv</a:t>
                      </a:r>
                      <a:endParaRPr lang="en-IN" b="0" i="0">
                        <a:solidFill>
                          <a:srgbClr val="0D0D0D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IN" b="0" dirty="0">
                          <a:solidFill>
                            <a:srgbClr val="0D0D0D"/>
                          </a:solidFill>
                          <a:effectLst/>
                        </a:rPr>
                        <a:t>Sends HTTP-style instructions to the browser</a:t>
                      </a:r>
                      <a:endParaRPr lang="en-IN" b="0" i="0" dirty="0">
                        <a:solidFill>
                          <a:srgbClr val="0D0D0D"/>
                        </a:solidFill>
                        <a:effectLst/>
                        <a:latin typeface="-apple-system-body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63578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89916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3C3DB03-25B0-4A79-0184-A6EA88495D39}"/>
              </a:ext>
            </a:extLst>
          </p:cNvPr>
          <p:cNvSpPr/>
          <p:nvPr/>
        </p:nvSpPr>
        <p:spPr>
          <a:xfrm>
            <a:off x="573024" y="524256"/>
            <a:ext cx="1926336" cy="97990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B51B4C-7504-3465-50F0-84833F8C5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name</a:t>
            </a:r>
            <a:r>
              <a:rPr lang="en-IN" b="1" dirty="0"/>
              <a:t> 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4E1DD4-2234-F8A8-F225-6018197ADE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		&lt;meta name="author" content=“</a:t>
            </a:r>
            <a:r>
              <a:rPr lang="en-IN" dirty="0" err="1"/>
              <a:t>Moresh</a:t>
            </a:r>
            <a:r>
              <a:rPr lang="en-IN" dirty="0"/>
              <a:t>"&gt;</a:t>
            </a:r>
          </a:p>
          <a:p>
            <a:r>
              <a:rPr lang="en-IN" dirty="0"/>
              <a:t>Specifies a name for the </a:t>
            </a:r>
            <a:r>
              <a:rPr lang="en-IN" b="1" i="1" dirty="0"/>
              <a:t>type of metadata</a:t>
            </a:r>
            <a:r>
              <a:rPr lang="en-IN" b="1" dirty="0"/>
              <a:t>.</a:t>
            </a:r>
          </a:p>
          <a:p>
            <a:r>
              <a:rPr lang="en-IN" dirty="0"/>
              <a:t>It </a:t>
            </a:r>
            <a:r>
              <a:rPr lang="en-IN" i="1" u="sng" dirty="0"/>
              <a:t>pairs</a:t>
            </a:r>
            <a:r>
              <a:rPr lang="en-IN" dirty="0"/>
              <a:t> directly with the </a:t>
            </a:r>
            <a:r>
              <a:rPr lang="en-IN" b="1" i="1" u="sng" dirty="0"/>
              <a:t>content attribute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38722FAA-0170-9888-EAD7-7A8071D2BE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1387377"/>
              </p:ext>
            </p:extLst>
          </p:nvPr>
        </p:nvGraphicFramePr>
        <p:xfrm>
          <a:off x="2032000" y="4001294"/>
          <a:ext cx="81280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72460424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41650109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Describe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8660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Defines the creator of the page content.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901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Provides a brief summary of the page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02322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IN" dirty="0"/>
                        <a:t>Keywords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Lists relevant terms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02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26525304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02FD4A9C-2CDC-E81E-82A4-05F494667DE8}"/>
              </a:ext>
            </a:extLst>
          </p:cNvPr>
          <p:cNvSpPr txBox="1"/>
          <p:nvPr/>
        </p:nvSpPr>
        <p:spPr>
          <a:xfrm>
            <a:off x="3535680" y="63119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u="none" strike="noStrike" dirty="0">
                <a:effectLst/>
                <a:latin typeface="Courier New" panose="02070309020205020404" pitchFamily="49" charset="0"/>
              </a:rPr>
              <a:t>viewport</a:t>
            </a:r>
            <a:r>
              <a:rPr lang="en-IN" dirty="0"/>
              <a:t>: Controls how the page renders on mobile devices.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6E47F15-2D1B-CDDE-FBFA-4E92EE6673D1}"/>
              </a:ext>
            </a:extLst>
          </p:cNvPr>
          <p:cNvSpPr txBox="1"/>
          <p:nvPr/>
        </p:nvSpPr>
        <p:spPr>
          <a:xfrm>
            <a:off x="6973824" y="170313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/>
            <a:r>
              <a:rPr lang="en-IN" sz="2000" b="0" i="0" dirty="0">
                <a:solidFill>
                  <a:srgbClr val="0D0D0D"/>
                </a:solidFill>
                <a:effectLst/>
                <a:latin typeface="ui-monospace"/>
              </a:rPr>
              <a:t>name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-apple-system-body"/>
              </a:rPr>
              <a:t> → </a:t>
            </a:r>
            <a:r>
              <a:rPr lang="en-IN" sz="2000" b="0" i="1" dirty="0">
                <a:solidFill>
                  <a:srgbClr val="0D0D0D"/>
                </a:solidFill>
                <a:effectLst/>
                <a:latin typeface="-apple-system-body"/>
              </a:rPr>
              <a:t>What kind of information is this?</a:t>
            </a:r>
            <a:endParaRPr lang="en-IN" sz="2000" b="0" i="0" dirty="0">
              <a:solidFill>
                <a:srgbClr val="0D0D0D"/>
              </a:solidFill>
              <a:effectLst/>
              <a:latin typeface="-apple-system-body"/>
            </a:endParaRPr>
          </a:p>
          <a:p>
            <a:pPr marL="0" marR="0" indent="0" algn="l"/>
            <a:r>
              <a:rPr lang="en-IN" sz="2000" b="0" i="0" dirty="0">
                <a:solidFill>
                  <a:srgbClr val="0D0D0D"/>
                </a:solidFill>
                <a:effectLst/>
                <a:latin typeface="ui-monospace"/>
              </a:rPr>
              <a:t>content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-apple-system-body"/>
              </a:rPr>
              <a:t> → </a:t>
            </a:r>
            <a:r>
              <a:rPr lang="en-IN" sz="2000" b="0" i="1" dirty="0">
                <a:solidFill>
                  <a:srgbClr val="0D0D0D"/>
                </a:solidFill>
                <a:effectLst/>
                <a:latin typeface="-apple-system-body"/>
              </a:rPr>
              <a:t>What is the value of that information?</a:t>
            </a:r>
            <a:endParaRPr lang="en-IN" sz="2000" b="0" i="0" dirty="0">
              <a:solidFill>
                <a:srgbClr val="0D0D0D"/>
              </a:solidFill>
              <a:effectLst/>
              <a:latin typeface="-apple-system-body"/>
            </a:endParaRPr>
          </a:p>
        </p:txBody>
      </p:sp>
    </p:spTree>
    <p:extLst>
      <p:ext uri="{BB962C8B-B14F-4D97-AF65-F5344CB8AC3E}">
        <p14:creationId xmlns:p14="http://schemas.microsoft.com/office/powerpoint/2010/main" val="1526569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What Meta Tags Do I Really Need? (Updated for 2025) - Manning Search  Marketing">
            <a:extLst>
              <a:ext uri="{FF2B5EF4-FFF2-40B4-BE49-F238E27FC236}">
                <a16:creationId xmlns:a16="http://schemas.microsoft.com/office/drawing/2014/main" id="{D6E77971-E7C0-BBDF-4408-B8D5C13B72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208" y="2736772"/>
            <a:ext cx="4974337" cy="3315040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FEBDC8D0-E1E8-7EBE-1925-1C3BDB22B96A}"/>
              </a:ext>
            </a:extLst>
          </p:cNvPr>
          <p:cNvSpPr/>
          <p:nvPr/>
        </p:nvSpPr>
        <p:spPr>
          <a:xfrm>
            <a:off x="451104" y="487680"/>
            <a:ext cx="2548128" cy="1085088"/>
          </a:xfrm>
          <a:prstGeom prst="ellipse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C4FF93-79DF-B09C-DBED-780264F73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7381D-2EAD-57D5-3F21-7510689E9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Holds the </a:t>
            </a:r>
            <a:r>
              <a:rPr lang="en-IN" b="1" i="1" dirty="0"/>
              <a:t>actual data</a:t>
            </a:r>
            <a:r>
              <a:rPr lang="en-IN" dirty="0"/>
              <a:t> or </a:t>
            </a:r>
            <a:r>
              <a:rPr lang="en-IN" b="1" i="1" dirty="0"/>
              <a:t>value.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7E86F9-BF5C-5999-BABC-BE8F4F61A1E0}"/>
              </a:ext>
            </a:extLst>
          </p:cNvPr>
          <p:cNvSpPr txBox="1"/>
          <p:nvPr/>
        </p:nvSpPr>
        <p:spPr>
          <a:xfrm>
            <a:off x="4120896" y="487680"/>
            <a:ext cx="683971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&lt;meta name="description"</a:t>
            </a:r>
          </a:p>
          <a:p>
            <a:r>
              <a:rPr lang="en-IN" b="1" i="1" dirty="0"/>
              <a:t>content="Learning HTML Meta Tags"</a:t>
            </a:r>
            <a:r>
              <a:rPr lang="en-IN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4287485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ow To Easily Set UTF-8 Encoding in HTML with meta charset — KeyQ, Inc.">
            <a:extLst>
              <a:ext uri="{FF2B5EF4-FFF2-40B4-BE49-F238E27FC236}">
                <a16:creationId xmlns:a16="http://schemas.microsoft.com/office/drawing/2014/main" id="{583C9DFD-D73F-0233-7F7A-8CDCDD2851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8160" y="3429000"/>
            <a:ext cx="4796028" cy="3197352"/>
          </a:xfrm>
          <a:prstGeom prst="rect">
            <a:avLst/>
          </a:prstGeom>
        </p:spPr>
      </p:pic>
      <p:sp>
        <p:nvSpPr>
          <p:cNvPr id="4" name="Rectangle: Beveled 3">
            <a:extLst>
              <a:ext uri="{FF2B5EF4-FFF2-40B4-BE49-F238E27FC236}">
                <a16:creationId xmlns:a16="http://schemas.microsoft.com/office/drawing/2014/main" id="{7E946887-6D8A-D299-F47E-8B25945082DE}"/>
              </a:ext>
            </a:extLst>
          </p:cNvPr>
          <p:cNvSpPr/>
          <p:nvPr/>
        </p:nvSpPr>
        <p:spPr>
          <a:xfrm>
            <a:off x="548640" y="524256"/>
            <a:ext cx="2255520" cy="1060704"/>
          </a:xfrm>
          <a:prstGeom prst="bevel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FB74E2-07B8-649B-3700-FC2D5667B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charset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AFCFDA-B2CC-AFCF-0117-565490D9A5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Declares the character encoding scheme for the entire HTML document.</a:t>
            </a:r>
          </a:p>
          <a:p>
            <a:r>
              <a:rPr lang="en-IN" dirty="0"/>
              <a:t>This is called a </a:t>
            </a:r>
            <a:r>
              <a:rPr lang="en-IN" b="1" i="1" dirty="0"/>
              <a:t>character encoding declaration</a:t>
            </a:r>
            <a:r>
              <a:rPr lang="en-IN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148068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arallelogram 4">
            <a:extLst>
              <a:ext uri="{FF2B5EF4-FFF2-40B4-BE49-F238E27FC236}">
                <a16:creationId xmlns:a16="http://schemas.microsoft.com/office/drawing/2014/main" id="{C8236591-E3E2-BD50-181B-31EC4741CE15}"/>
              </a:ext>
            </a:extLst>
          </p:cNvPr>
          <p:cNvSpPr/>
          <p:nvPr/>
        </p:nvSpPr>
        <p:spPr>
          <a:xfrm>
            <a:off x="536448" y="365125"/>
            <a:ext cx="3328416" cy="1325563"/>
          </a:xfrm>
          <a:prstGeom prst="parallelogram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E76B6F-36C7-4CB2-11D2-2C137E6A55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http-</a:t>
            </a:r>
            <a:r>
              <a:rPr lang="en-IN" dirty="0" err="1"/>
              <a:t>equiv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56B513-B6B6-B261-DC21-3913001FC9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This attribute behaves like an HTTP response header and gives </a:t>
            </a:r>
            <a:r>
              <a:rPr lang="en-IN" b="1" i="1" dirty="0"/>
              <a:t>instructions to the browser</a:t>
            </a:r>
            <a:r>
              <a:rPr lang="en-IN" dirty="0"/>
              <a:t>.</a:t>
            </a:r>
          </a:p>
          <a:p>
            <a:endParaRPr lang="en-IN" dirty="0"/>
          </a:p>
        </p:txBody>
      </p:sp>
      <p:cxnSp>
        <p:nvCxnSpPr>
          <p:cNvPr id="13" name="Connector: Curved 12">
            <a:extLst>
              <a:ext uri="{FF2B5EF4-FFF2-40B4-BE49-F238E27FC236}">
                <a16:creationId xmlns:a16="http://schemas.microsoft.com/office/drawing/2014/main" id="{342616A4-2505-F390-61FA-7C00E615CA8A}"/>
              </a:ext>
            </a:extLst>
          </p:cNvPr>
          <p:cNvCxnSpPr>
            <a:cxnSpLocks/>
          </p:cNvCxnSpPr>
          <p:nvPr/>
        </p:nvCxnSpPr>
        <p:spPr>
          <a:xfrm>
            <a:off x="3864864" y="790162"/>
            <a:ext cx="1255776" cy="237744"/>
          </a:xfrm>
          <a:prstGeom prst="curved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C7B2905-733E-46F1-5E90-6E2AFB021DD3}"/>
              </a:ext>
            </a:extLst>
          </p:cNvPr>
          <p:cNvSpPr/>
          <p:nvPr/>
        </p:nvSpPr>
        <p:spPr>
          <a:xfrm>
            <a:off x="4949952" y="202260"/>
            <a:ext cx="3877056" cy="1553032"/>
          </a:xfrm>
          <a:custGeom>
            <a:avLst/>
            <a:gdLst>
              <a:gd name="csX0" fmla="*/ 841248 w 3877056"/>
              <a:gd name="csY0" fmla="*/ 626796 h 1553032"/>
              <a:gd name="csX1" fmla="*/ 877824 w 3877056"/>
              <a:gd name="csY1" fmla="*/ 565836 h 1553032"/>
              <a:gd name="csX2" fmla="*/ 938784 w 3877056"/>
              <a:gd name="csY2" fmla="*/ 443916 h 1553032"/>
              <a:gd name="csX3" fmla="*/ 1036320 w 3877056"/>
              <a:gd name="csY3" fmla="*/ 321996 h 1553032"/>
              <a:gd name="csX4" fmla="*/ 1194816 w 3877056"/>
              <a:gd name="csY4" fmla="*/ 261036 h 1553032"/>
              <a:gd name="csX5" fmla="*/ 1267968 w 3877056"/>
              <a:gd name="csY5" fmla="*/ 321996 h 1553032"/>
              <a:gd name="csX6" fmla="*/ 1377696 w 3877056"/>
              <a:gd name="csY6" fmla="*/ 468300 h 1553032"/>
              <a:gd name="csX7" fmla="*/ 3145536 w 3877056"/>
              <a:gd name="csY7" fmla="*/ 224460 h 1553032"/>
              <a:gd name="csX8" fmla="*/ 3182112 w 3877056"/>
              <a:gd name="csY8" fmla="*/ 541452 h 1553032"/>
              <a:gd name="csX9" fmla="*/ 3706368 w 3877056"/>
              <a:gd name="csY9" fmla="*/ 370764 h 1553032"/>
              <a:gd name="csX10" fmla="*/ 3828288 w 3877056"/>
              <a:gd name="csY10" fmla="*/ 382956 h 1553032"/>
              <a:gd name="csX11" fmla="*/ 3877056 w 3877056"/>
              <a:gd name="csY11" fmla="*/ 626796 h 1553032"/>
              <a:gd name="csX12" fmla="*/ 3742944 w 3877056"/>
              <a:gd name="csY12" fmla="*/ 1163244 h 1553032"/>
              <a:gd name="csX13" fmla="*/ 3621024 w 3877056"/>
              <a:gd name="csY13" fmla="*/ 1236396 h 1553032"/>
              <a:gd name="csX14" fmla="*/ 3377184 w 3877056"/>
              <a:gd name="csY14" fmla="*/ 1394892 h 1553032"/>
              <a:gd name="csX15" fmla="*/ 3291840 w 3877056"/>
              <a:gd name="csY15" fmla="*/ 1431468 h 1553032"/>
              <a:gd name="csX16" fmla="*/ 3218688 w 3877056"/>
              <a:gd name="csY16" fmla="*/ 1212012 h 1553032"/>
              <a:gd name="csX17" fmla="*/ 3145536 w 3877056"/>
              <a:gd name="csY17" fmla="*/ 1065708 h 1553032"/>
              <a:gd name="csX18" fmla="*/ 2633472 w 3877056"/>
              <a:gd name="csY18" fmla="*/ 1455852 h 1553032"/>
              <a:gd name="csX19" fmla="*/ 2462784 w 3877056"/>
              <a:gd name="csY19" fmla="*/ 1224204 h 1553032"/>
              <a:gd name="csX20" fmla="*/ 1938528 w 3877056"/>
              <a:gd name="csY20" fmla="*/ 1260780 h 1553032"/>
              <a:gd name="csX21" fmla="*/ 1901952 w 3877056"/>
              <a:gd name="csY21" fmla="*/ 1248588 h 1553032"/>
              <a:gd name="csX22" fmla="*/ 890016 w 3877056"/>
              <a:gd name="csY22" fmla="*/ 1407084 h 1553032"/>
              <a:gd name="csX23" fmla="*/ 816864 w 3877056"/>
              <a:gd name="csY23" fmla="*/ 1358316 h 1553032"/>
              <a:gd name="csX24" fmla="*/ 426720 w 3877056"/>
              <a:gd name="csY24" fmla="*/ 1455852 h 1553032"/>
              <a:gd name="csX25" fmla="*/ 182880 w 3877056"/>
              <a:gd name="csY25" fmla="*/ 1504620 h 1553032"/>
              <a:gd name="csX26" fmla="*/ 0 w 3877056"/>
              <a:gd name="csY26" fmla="*/ 1029132 h 1553032"/>
              <a:gd name="csX27" fmla="*/ 12192 w 3877056"/>
              <a:gd name="csY27" fmla="*/ 980364 h 1553032"/>
              <a:gd name="csX28" fmla="*/ 231648 w 3877056"/>
              <a:gd name="csY28" fmla="*/ 895020 h 1553032"/>
              <a:gd name="csX29" fmla="*/ 560832 w 3877056"/>
              <a:gd name="csY29" fmla="*/ 492684 h 1553032"/>
              <a:gd name="csX30" fmla="*/ 633984 w 3877056"/>
              <a:gd name="csY30" fmla="*/ 334188 h 1553032"/>
              <a:gd name="csX31" fmla="*/ 841248 w 3877056"/>
              <a:gd name="csY31" fmla="*/ 821868 h 1553032"/>
              <a:gd name="csX32" fmla="*/ 865632 w 3877056"/>
              <a:gd name="csY32" fmla="*/ 724332 h 1553032"/>
              <a:gd name="csX33" fmla="*/ 890016 w 3877056"/>
              <a:gd name="csY33" fmla="*/ 663372 h 1553032"/>
              <a:gd name="csX34" fmla="*/ 877824 w 3877056"/>
              <a:gd name="csY34" fmla="*/ 590220 h 1553032"/>
              <a:gd name="csX35" fmla="*/ 841248 w 3877056"/>
              <a:gd name="csY35" fmla="*/ 626796 h 15530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3877056" h="1553032">
                <a:moveTo>
                  <a:pt x="841248" y="626796"/>
                </a:moveTo>
                <a:cubicBezTo>
                  <a:pt x="853440" y="606476"/>
                  <a:pt x="866672" y="586745"/>
                  <a:pt x="877824" y="565836"/>
                </a:cubicBezTo>
                <a:cubicBezTo>
                  <a:pt x="899206" y="525745"/>
                  <a:pt x="914021" y="482012"/>
                  <a:pt x="938784" y="443916"/>
                </a:cubicBezTo>
                <a:cubicBezTo>
                  <a:pt x="967148" y="400280"/>
                  <a:pt x="999519" y="358797"/>
                  <a:pt x="1036320" y="321996"/>
                </a:cubicBezTo>
                <a:cubicBezTo>
                  <a:pt x="1078179" y="280137"/>
                  <a:pt x="1141944" y="274254"/>
                  <a:pt x="1194816" y="261036"/>
                </a:cubicBezTo>
                <a:cubicBezTo>
                  <a:pt x="1219200" y="281356"/>
                  <a:pt x="1246968" y="298196"/>
                  <a:pt x="1267968" y="321996"/>
                </a:cubicBezTo>
                <a:cubicBezTo>
                  <a:pt x="1308300" y="367706"/>
                  <a:pt x="1377696" y="468300"/>
                  <a:pt x="1377696" y="468300"/>
                </a:cubicBezTo>
                <a:cubicBezTo>
                  <a:pt x="1966976" y="387020"/>
                  <a:pt x="3077351" y="-366478"/>
                  <a:pt x="3145536" y="224460"/>
                </a:cubicBezTo>
                <a:lnTo>
                  <a:pt x="3182112" y="541452"/>
                </a:lnTo>
                <a:cubicBezTo>
                  <a:pt x="3356864" y="484556"/>
                  <a:pt x="3527878" y="414545"/>
                  <a:pt x="3706368" y="370764"/>
                </a:cubicBezTo>
                <a:cubicBezTo>
                  <a:pt x="3746035" y="361034"/>
                  <a:pt x="3805633" y="348973"/>
                  <a:pt x="3828288" y="382956"/>
                </a:cubicBezTo>
                <a:cubicBezTo>
                  <a:pt x="3874267" y="451924"/>
                  <a:pt x="3860800" y="545516"/>
                  <a:pt x="3877056" y="626796"/>
                </a:cubicBezTo>
                <a:cubicBezTo>
                  <a:pt x="3832352" y="805612"/>
                  <a:pt x="3801231" y="988383"/>
                  <a:pt x="3742944" y="1163244"/>
                </a:cubicBezTo>
                <a:cubicBezTo>
                  <a:pt x="3706304" y="1273165"/>
                  <a:pt x="3684936" y="1252374"/>
                  <a:pt x="3621024" y="1236396"/>
                </a:cubicBezTo>
                <a:cubicBezTo>
                  <a:pt x="3539744" y="1289228"/>
                  <a:pt x="3460582" y="1345471"/>
                  <a:pt x="3377184" y="1394892"/>
                </a:cubicBezTo>
                <a:cubicBezTo>
                  <a:pt x="3350558" y="1410671"/>
                  <a:pt x="3312110" y="1454857"/>
                  <a:pt x="3291840" y="1431468"/>
                </a:cubicBezTo>
                <a:cubicBezTo>
                  <a:pt x="3241339" y="1373198"/>
                  <a:pt x="3247326" y="1283606"/>
                  <a:pt x="3218688" y="1212012"/>
                </a:cubicBezTo>
                <a:cubicBezTo>
                  <a:pt x="3198438" y="1161387"/>
                  <a:pt x="3169920" y="1114476"/>
                  <a:pt x="3145536" y="1065708"/>
                </a:cubicBezTo>
                <a:cubicBezTo>
                  <a:pt x="2974848" y="1195756"/>
                  <a:pt x="2760764" y="1628605"/>
                  <a:pt x="2633472" y="1455852"/>
                </a:cubicBezTo>
                <a:lnTo>
                  <a:pt x="2462784" y="1224204"/>
                </a:lnTo>
                <a:cubicBezTo>
                  <a:pt x="2075736" y="1498363"/>
                  <a:pt x="2279379" y="1493178"/>
                  <a:pt x="1938528" y="1260780"/>
                </a:cubicBezTo>
                <a:cubicBezTo>
                  <a:pt x="1927910" y="1253540"/>
                  <a:pt x="1914144" y="1252652"/>
                  <a:pt x="1901952" y="1248588"/>
                </a:cubicBezTo>
                <a:cubicBezTo>
                  <a:pt x="1055835" y="1543447"/>
                  <a:pt x="1332444" y="1676388"/>
                  <a:pt x="890016" y="1407084"/>
                </a:cubicBezTo>
                <a:cubicBezTo>
                  <a:pt x="864983" y="1391846"/>
                  <a:pt x="841248" y="1374572"/>
                  <a:pt x="816864" y="1358316"/>
                </a:cubicBezTo>
                <a:lnTo>
                  <a:pt x="426720" y="1455852"/>
                </a:lnTo>
                <a:cubicBezTo>
                  <a:pt x="345953" y="1474491"/>
                  <a:pt x="254996" y="1545486"/>
                  <a:pt x="182880" y="1504620"/>
                </a:cubicBezTo>
                <a:cubicBezTo>
                  <a:pt x="106449" y="1461309"/>
                  <a:pt x="23507" y="1113757"/>
                  <a:pt x="0" y="1029132"/>
                </a:cubicBezTo>
                <a:cubicBezTo>
                  <a:pt x="4064" y="1012876"/>
                  <a:pt x="2453" y="993999"/>
                  <a:pt x="12192" y="980364"/>
                </a:cubicBezTo>
                <a:cubicBezTo>
                  <a:pt x="52236" y="924302"/>
                  <a:pt x="204677" y="902726"/>
                  <a:pt x="231648" y="895020"/>
                </a:cubicBezTo>
                <a:cubicBezTo>
                  <a:pt x="341376" y="760908"/>
                  <a:pt x="459825" y="633481"/>
                  <a:pt x="560832" y="492684"/>
                </a:cubicBezTo>
                <a:cubicBezTo>
                  <a:pt x="594750" y="445404"/>
                  <a:pt x="583830" y="304686"/>
                  <a:pt x="633984" y="334188"/>
                </a:cubicBezTo>
                <a:cubicBezTo>
                  <a:pt x="688786" y="366425"/>
                  <a:pt x="812044" y="739124"/>
                  <a:pt x="841248" y="821868"/>
                </a:cubicBezTo>
                <a:cubicBezTo>
                  <a:pt x="849376" y="789356"/>
                  <a:pt x="855776" y="756363"/>
                  <a:pt x="865632" y="724332"/>
                </a:cubicBezTo>
                <a:cubicBezTo>
                  <a:pt x="872068" y="703414"/>
                  <a:pt x="888035" y="685167"/>
                  <a:pt x="890016" y="663372"/>
                </a:cubicBezTo>
                <a:cubicBezTo>
                  <a:pt x="892254" y="638753"/>
                  <a:pt x="881888" y="614604"/>
                  <a:pt x="877824" y="590220"/>
                </a:cubicBezTo>
                <a:lnTo>
                  <a:pt x="841248" y="626796"/>
                </a:lnTo>
                <a:close/>
              </a:path>
            </a:pathLst>
          </a:cu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236B89B-05D7-5B20-3B93-C7CB12251683}"/>
              </a:ext>
            </a:extLst>
          </p:cNvPr>
          <p:cNvSpPr txBox="1"/>
          <p:nvPr/>
        </p:nvSpPr>
        <p:spPr>
          <a:xfrm>
            <a:off x="5279138" y="790162"/>
            <a:ext cx="6096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200" dirty="0"/>
              <a:t>HTTP-equivalent</a:t>
            </a:r>
          </a:p>
        </p:txBody>
      </p:sp>
      <p:graphicFrame>
        <p:nvGraphicFramePr>
          <p:cNvPr id="26" name="Table 25">
            <a:extLst>
              <a:ext uri="{FF2B5EF4-FFF2-40B4-BE49-F238E27FC236}">
                <a16:creationId xmlns:a16="http://schemas.microsoft.com/office/drawing/2014/main" id="{1415C375-7330-C023-B7E4-4218E9ED17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5913603"/>
              </p:ext>
            </p:extLst>
          </p:nvPr>
        </p:nvGraphicFramePr>
        <p:xfrm>
          <a:off x="2401824" y="3279648"/>
          <a:ext cx="8294624" cy="17258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499360">
                  <a:extLst>
                    <a:ext uri="{9D8B030D-6E8A-4147-A177-3AD203B41FA5}">
                      <a16:colId xmlns:a16="http://schemas.microsoft.com/office/drawing/2014/main" val="2614959099"/>
                    </a:ext>
                  </a:extLst>
                </a:gridCol>
                <a:gridCol w="5795264">
                  <a:extLst>
                    <a:ext uri="{9D8B030D-6E8A-4147-A177-3AD203B41FA5}">
                      <a16:colId xmlns:a16="http://schemas.microsoft.com/office/drawing/2014/main" val="3061681597"/>
                    </a:ext>
                  </a:extLst>
                </a:gridCol>
              </a:tblGrid>
              <a:tr h="346498">
                <a:tc>
                  <a:txBody>
                    <a:bodyPr/>
                    <a:lstStyle/>
                    <a:p>
                      <a:r>
                        <a:rPr lang="en-IN" dirty="0"/>
                        <a:t>Refresh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IN" b="0" i="0" dirty="0">
                          <a:solidFill>
                            <a:srgbClr val="0D0D0D"/>
                          </a:solidFill>
                          <a:effectLst/>
                          <a:latin typeface="-apple-system-body"/>
                        </a:rPr>
                        <a:t>Refreshes or redirects the webpage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5833003"/>
                  </a:ext>
                </a:extLst>
              </a:tr>
              <a:tr h="628608">
                <a:tc>
                  <a:txBody>
                    <a:bodyPr/>
                    <a:lstStyle/>
                    <a:p>
                      <a:r>
                        <a:rPr lang="en-IN" dirty="0"/>
                        <a:t>Set-cookies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setting cookies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62943855"/>
                  </a:ext>
                </a:extLst>
              </a:tr>
              <a:tr h="364193">
                <a:tc>
                  <a:txBody>
                    <a:bodyPr/>
                    <a:lstStyle/>
                    <a:p>
                      <a:r>
                        <a:rPr lang="en-IN" dirty="0"/>
                        <a:t>Content-type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Specifies the document type and character encoding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76889810"/>
                  </a:ext>
                </a:extLst>
              </a:tr>
              <a:tr h="364193">
                <a:tc>
                  <a:txBody>
                    <a:bodyPr/>
                    <a:lstStyle/>
                    <a:p>
                      <a:r>
                        <a:rPr lang="en-IN" dirty="0"/>
                        <a:t>expires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Indicates when cached content should be considered expired 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72675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070397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4D98BB7-9303-E887-B9D9-4CB6950FE1F1}"/>
              </a:ext>
            </a:extLst>
          </p:cNvPr>
          <p:cNvSpPr txBox="1"/>
          <p:nvPr/>
        </p:nvSpPr>
        <p:spPr>
          <a:xfrm>
            <a:off x="158496" y="170688"/>
            <a:ext cx="10107168" cy="4056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&lt;head&gt;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&lt;title&gt;</a:t>
            </a:r>
            <a:r>
              <a:rPr lang="en-IN" b="0" dirty="0">
                <a:effectLst/>
                <a:latin typeface="Consolas" panose="020B0609020204030204" pitchFamily="49" charset="0"/>
              </a:rPr>
              <a:t>Meta Name &amp; Content Attributes Demo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&lt;/title&gt;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r>
              <a:rPr lang="en-IN" b="0" dirty="0">
                <a:effectLst/>
                <a:latin typeface="Consolas" panose="020B0609020204030204" pitchFamily="49" charset="0"/>
              </a:rPr>
              <a:t>    &lt;meta name="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author</a:t>
            </a:r>
            <a:r>
              <a:rPr lang="en-IN" b="0" dirty="0">
                <a:effectLst/>
                <a:latin typeface="Consolas" panose="020B0609020204030204" pitchFamily="49" charset="0"/>
              </a:rPr>
              <a:t>" content="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Moresh</a:t>
            </a:r>
            <a:r>
              <a:rPr lang="en-IN" b="0" dirty="0">
                <a:effectLst/>
                <a:latin typeface="Consolas" panose="020B0609020204030204" pitchFamily="49" charset="0"/>
              </a:rPr>
              <a:t>"&gt;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r>
              <a:rPr lang="en-IN" b="0" dirty="0">
                <a:effectLst/>
                <a:latin typeface="Consolas" panose="020B0609020204030204" pitchFamily="49" charset="0"/>
              </a:rPr>
              <a:t>    &lt;meta name="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description</a:t>
            </a:r>
            <a:r>
              <a:rPr lang="en-IN" b="0" dirty="0">
                <a:effectLst/>
                <a:latin typeface="Consolas" panose="020B0609020204030204" pitchFamily="49" charset="0"/>
              </a:rPr>
              <a:t>“</a:t>
            </a:r>
          </a:p>
          <a:p>
            <a:pPr>
              <a:lnSpc>
                <a:spcPts val="1425"/>
              </a:lnSpc>
              <a:buNone/>
            </a:pP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  content="</a:t>
            </a:r>
            <a:r>
              <a:rPr lang="en-IN" sz="1600" b="0" dirty="0">
                <a:effectLst/>
                <a:latin typeface="Consolas" panose="020B0609020204030204" pitchFamily="49" charset="0"/>
              </a:rPr>
              <a:t>This webpage demonstrates the name and content attributes of HTML meta tags."&gt;</a:t>
            </a: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&lt;meta name="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keywords</a:t>
            </a:r>
            <a:r>
              <a:rPr lang="en-IN" b="0" dirty="0">
                <a:effectLst/>
                <a:latin typeface="Consolas" panose="020B0609020204030204" pitchFamily="49" charset="0"/>
              </a:rPr>
              <a:t>“</a:t>
            </a:r>
          </a:p>
          <a:p>
            <a:pPr>
              <a:lnSpc>
                <a:spcPts val="1425"/>
              </a:lnSpc>
              <a:buNone/>
            </a:pP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  content="HTML, Meta Tags, Name Attribute, Content Attribute,"&gt;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r>
              <a:rPr lang="en-IN" b="0" dirty="0">
                <a:effectLst/>
                <a:latin typeface="Consolas" panose="020B0609020204030204" pitchFamily="49" charset="0"/>
              </a:rPr>
              <a:t>    &lt;meta name="</a:t>
            </a:r>
            <a:r>
              <a:rPr lang="en-IN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copyright</a:t>
            </a:r>
            <a:r>
              <a:rPr lang="en-IN" b="0" dirty="0">
                <a:effectLst/>
                <a:latin typeface="Consolas" panose="020B0609020204030204" pitchFamily="49" charset="0"/>
              </a:rPr>
              <a:t>“</a:t>
            </a:r>
          </a:p>
          <a:p>
            <a:pPr>
              <a:lnSpc>
                <a:spcPts val="1425"/>
              </a:lnSpc>
              <a:buNone/>
            </a:pP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        content="© 2026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Moresh</a:t>
            </a:r>
            <a:r>
              <a:rPr lang="en-IN" b="0" dirty="0">
                <a:effectLst/>
                <a:latin typeface="Consolas" panose="020B0609020204030204" pitchFamily="49" charset="0"/>
              </a:rPr>
              <a:t> sir </a:t>
            </a:r>
            <a:r>
              <a:rPr lang="en-IN" b="0" dirty="0" err="1">
                <a:effectLst/>
                <a:latin typeface="Consolas" panose="020B0609020204030204" pitchFamily="49" charset="0"/>
              </a:rPr>
              <a:t>ke</a:t>
            </a:r>
            <a:r>
              <a:rPr lang="en-IN" b="0" dirty="0">
                <a:effectLst/>
                <a:latin typeface="Consolas" panose="020B0609020204030204" pitchFamily="49" charset="0"/>
              </a:rPr>
              <a:t> Lectures"&gt;</a:t>
            </a:r>
          </a:p>
          <a:p>
            <a:pPr>
              <a:lnSpc>
                <a:spcPts val="1425"/>
              </a:lnSpc>
              <a:buNone/>
            </a:pPr>
            <a:br>
              <a:rPr lang="en-IN" b="0" dirty="0">
                <a:effectLst/>
                <a:latin typeface="Consolas" panose="020B0609020204030204" pitchFamily="49" charset="0"/>
              </a:rPr>
            </a:br>
            <a:endParaRPr lang="en-IN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  </a:t>
            </a:r>
          </a:p>
          <a:p>
            <a:pPr>
              <a:lnSpc>
                <a:spcPts val="1425"/>
              </a:lnSpc>
              <a:buNone/>
            </a:pPr>
            <a:r>
              <a:rPr lang="en-IN" b="0" dirty="0">
                <a:effectLst/>
                <a:latin typeface="Consolas" panose="020B0609020204030204" pitchFamily="49" charset="0"/>
              </a:rPr>
              <a:t>&lt;/head&gt;</a:t>
            </a:r>
          </a:p>
        </p:txBody>
      </p:sp>
    </p:spTree>
    <p:extLst>
      <p:ext uri="{BB962C8B-B14F-4D97-AF65-F5344CB8AC3E}">
        <p14:creationId xmlns:p14="http://schemas.microsoft.com/office/powerpoint/2010/main" val="919855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9ABA0EB-EFE3-8768-E014-A150FAF70B83}"/>
              </a:ext>
            </a:extLst>
          </p:cNvPr>
          <p:cNvSpPr txBox="1"/>
          <p:nvPr/>
        </p:nvSpPr>
        <p:spPr>
          <a:xfrm>
            <a:off x="841248" y="499551"/>
            <a:ext cx="9180576" cy="49609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en-IN" sz="2000" b="0" dirty="0">
                <a:effectLst/>
                <a:latin typeface="Consolas" panose="020B0609020204030204" pitchFamily="49" charset="0"/>
              </a:rPr>
              <a:t>&lt;!DOCTYPE html&gt;</a:t>
            </a:r>
            <a:endParaRPr lang="en-IN" sz="2000" dirty="0"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endParaRPr lang="en-IN" sz="2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effectLst/>
                <a:latin typeface="Consolas" panose="020B0609020204030204" pitchFamily="49" charset="0"/>
              </a:rPr>
              <a:t>&lt;html&gt;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effectLst/>
                <a:latin typeface="Consolas" panose="020B0609020204030204" pitchFamily="49" charset="0"/>
              </a:rPr>
              <a:t>&lt;head&gt;</a:t>
            </a: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effectLst/>
                <a:latin typeface="Consolas" panose="020B0609020204030204" pitchFamily="49" charset="0"/>
              </a:rPr>
            </a:br>
            <a:endParaRPr lang="en-IN" sz="2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effectLst/>
                <a:latin typeface="Consolas" panose="020B0609020204030204" pitchFamily="49" charset="0"/>
              </a:rPr>
              <a:t>    &lt;title&gt;Meta Refresh Demo&lt;/title&gt;</a:t>
            </a: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effectLst/>
                <a:latin typeface="Consolas" panose="020B0609020204030204" pitchFamily="49" charset="0"/>
              </a:rPr>
            </a:br>
            <a:endParaRPr lang="en-IN" sz="2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effectLst/>
                <a:latin typeface="Consolas" panose="020B0609020204030204" pitchFamily="49" charset="0"/>
              </a:rPr>
              <a:t>    </a:t>
            </a:r>
            <a:r>
              <a:rPr lang="en-IN" sz="2000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&lt;meta http-</a:t>
            </a:r>
            <a:r>
              <a:rPr lang="en-IN" sz="2000" b="0" dirty="0" err="1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equiv</a:t>
            </a:r>
            <a:r>
              <a:rPr lang="en-IN" sz="2000" b="0" dirty="0"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="refresh" content="5"&gt;</a:t>
            </a: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effectLst/>
                <a:latin typeface="Consolas" panose="020B0609020204030204" pitchFamily="49" charset="0"/>
              </a:rPr>
            </a:br>
            <a:endParaRPr lang="en-IN" sz="2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effectLst/>
                <a:latin typeface="Consolas" panose="020B0609020204030204" pitchFamily="49" charset="0"/>
              </a:rPr>
              <a:t>&lt;/head&gt;</a:t>
            </a: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effectLst/>
                <a:latin typeface="Consolas" panose="020B0609020204030204" pitchFamily="49" charset="0"/>
              </a:rPr>
            </a:br>
            <a:endParaRPr lang="en-IN" sz="2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effectLst/>
                <a:latin typeface="Consolas" panose="020B0609020204030204" pitchFamily="49" charset="0"/>
              </a:rPr>
              <a:t>&lt;body&gt;</a:t>
            </a:r>
            <a:br>
              <a:rPr lang="en-IN" sz="2000" b="0" dirty="0">
                <a:effectLst/>
                <a:latin typeface="Consolas" panose="020B0609020204030204" pitchFamily="49" charset="0"/>
              </a:rPr>
            </a:br>
            <a:endParaRPr lang="en-IN" sz="2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effectLst/>
                <a:latin typeface="Consolas" panose="020B0609020204030204" pitchFamily="49" charset="0"/>
              </a:rPr>
              <a:t>    &lt;h1&gt;HTML Meta Refresh Example&lt;/h1&gt;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effectLst/>
                <a:latin typeface="Consolas" panose="020B0609020204030204" pitchFamily="49" charset="0"/>
              </a:rPr>
              <a:t>    &lt;p&gt;This page will automatically refresh after 5 seconds.&lt;/p&gt;</a:t>
            </a:r>
            <a:br>
              <a:rPr lang="en-IN" sz="2000" b="0" dirty="0">
                <a:effectLst/>
                <a:latin typeface="Consolas" panose="020B0609020204030204" pitchFamily="49" charset="0"/>
              </a:rPr>
            </a:br>
            <a:endParaRPr lang="en-IN" sz="2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effectLst/>
                <a:latin typeface="Consolas" panose="020B0609020204030204" pitchFamily="49" charset="0"/>
              </a:rPr>
              <a:t>&lt;/body&gt;</a:t>
            </a:r>
          </a:p>
          <a:p>
            <a:pPr>
              <a:lnSpc>
                <a:spcPts val="1425"/>
              </a:lnSpc>
              <a:buNone/>
            </a:pPr>
            <a:endParaRPr lang="en-IN" sz="2000" b="0" dirty="0">
              <a:effectLst/>
              <a:latin typeface="Consolas" panose="020B0609020204030204" pitchFamily="49" charset="0"/>
            </a:endParaRPr>
          </a:p>
          <a:p>
            <a:pPr>
              <a:lnSpc>
                <a:spcPts val="1425"/>
              </a:lnSpc>
              <a:buNone/>
            </a:pPr>
            <a:r>
              <a:rPr lang="en-IN" sz="2000" b="0" dirty="0">
                <a:effectLst/>
                <a:latin typeface="Consolas" panose="020B0609020204030204" pitchFamily="49" charset="0"/>
              </a:rPr>
              <a:t>&lt;/html&gt;</a:t>
            </a:r>
          </a:p>
          <a:p>
            <a:pPr>
              <a:lnSpc>
                <a:spcPts val="1425"/>
              </a:lnSpc>
              <a:buNone/>
            </a:pPr>
            <a:br>
              <a:rPr lang="en-IN" sz="2000" b="0" dirty="0">
                <a:effectLst/>
                <a:latin typeface="Consolas" panose="020B0609020204030204" pitchFamily="49" charset="0"/>
              </a:rPr>
            </a:br>
            <a:endParaRPr lang="en-IN" sz="2000" b="0" dirty="0"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39086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5FE7ED2-B8BA-E331-14E6-E256892C0132}"/>
              </a:ext>
            </a:extLst>
          </p:cNvPr>
          <p:cNvSpPr txBox="1"/>
          <p:nvPr/>
        </p:nvSpPr>
        <p:spPr>
          <a:xfrm>
            <a:off x="2950464" y="355473"/>
            <a:ext cx="6096000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r>
              <a:rPr lang="en-IN" dirty="0"/>
              <a:t>&lt;head&gt;</a:t>
            </a:r>
          </a:p>
          <a:p>
            <a:endParaRPr lang="en-IN" dirty="0"/>
          </a:p>
          <a:p>
            <a:r>
              <a:rPr lang="en-IN" dirty="0"/>
              <a:t>&lt;title&gt;Old Set Cookie Demo&lt;/title&gt;</a:t>
            </a:r>
          </a:p>
          <a:p>
            <a:endParaRPr lang="en-IN" dirty="0"/>
          </a:p>
          <a:p>
            <a:r>
              <a:rPr lang="en-IN" dirty="0">
                <a:highlight>
                  <a:srgbClr val="FFFF00"/>
                </a:highlight>
              </a:rPr>
              <a:t>&lt;meta http-</a:t>
            </a:r>
            <a:r>
              <a:rPr lang="en-IN" dirty="0" err="1">
                <a:highlight>
                  <a:srgbClr val="FFFF00"/>
                </a:highlight>
              </a:rPr>
              <a:t>equiv</a:t>
            </a:r>
            <a:r>
              <a:rPr lang="en-IN" dirty="0">
                <a:highlight>
                  <a:srgbClr val="FFFF00"/>
                </a:highlight>
              </a:rPr>
              <a:t>="set-cookie"</a:t>
            </a:r>
          </a:p>
          <a:p>
            <a:r>
              <a:rPr lang="en-IN" dirty="0">
                <a:highlight>
                  <a:srgbClr val="FFFF00"/>
                </a:highlight>
              </a:rPr>
              <a:t>      content="Name=</a:t>
            </a:r>
            <a:r>
              <a:rPr lang="en-IN" dirty="0" err="1">
                <a:highlight>
                  <a:srgbClr val="FFFF00"/>
                </a:highlight>
              </a:rPr>
              <a:t>Moresh</a:t>
            </a:r>
            <a:r>
              <a:rPr lang="en-IN" dirty="0">
                <a:highlight>
                  <a:srgbClr val="FFFF00"/>
                </a:highlight>
              </a:rPr>
              <a:t>"&gt;</a:t>
            </a:r>
          </a:p>
          <a:p>
            <a:endParaRPr lang="en-IN" dirty="0"/>
          </a:p>
          <a:p>
            <a:r>
              <a:rPr lang="en-IN" dirty="0"/>
              <a:t>&lt;/head&gt;</a:t>
            </a:r>
          </a:p>
          <a:p>
            <a:endParaRPr lang="en-IN" dirty="0"/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&lt;h1&gt;Meta Tag Set-Cookie Example&lt;/h1&gt;</a:t>
            </a:r>
          </a:p>
          <a:p>
            <a:endParaRPr lang="en-IN" dirty="0"/>
          </a:p>
          <a:p>
            <a:r>
              <a:rPr lang="en-IN" dirty="0"/>
              <a:t>&lt;p&gt;</a:t>
            </a:r>
          </a:p>
          <a:p>
            <a:r>
              <a:rPr lang="en-IN" dirty="0"/>
              <a:t>This page is trying to set a cookie using the meta tag.</a:t>
            </a:r>
          </a:p>
          <a:p>
            <a:r>
              <a:rPr lang="en-IN" dirty="0"/>
              <a:t>&lt;/p&gt;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44434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D5E9CFA-56B1-87FF-843A-8CAA76548A49}"/>
              </a:ext>
            </a:extLst>
          </p:cNvPr>
          <p:cNvSpPr txBox="1"/>
          <p:nvPr/>
        </p:nvSpPr>
        <p:spPr>
          <a:xfrm>
            <a:off x="2767584" y="335845"/>
            <a:ext cx="6096000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&lt;!DOCTYPE html&gt;</a:t>
            </a:r>
          </a:p>
          <a:p>
            <a:r>
              <a:rPr lang="en-IN" dirty="0"/>
              <a:t>&lt;html&gt;</a:t>
            </a:r>
          </a:p>
          <a:p>
            <a:endParaRPr lang="en-IN" dirty="0"/>
          </a:p>
          <a:p>
            <a:r>
              <a:rPr lang="en-IN" dirty="0"/>
              <a:t>&lt;head&gt;</a:t>
            </a:r>
          </a:p>
          <a:p>
            <a:endParaRPr lang="en-IN" dirty="0"/>
          </a:p>
          <a:p>
            <a:r>
              <a:rPr lang="en-IN" dirty="0"/>
              <a:t>    &lt;title&gt;Content Type and Expires Demo&lt;/title&gt;</a:t>
            </a:r>
          </a:p>
          <a:p>
            <a:endParaRPr lang="en-IN" dirty="0"/>
          </a:p>
          <a:p>
            <a:r>
              <a:rPr lang="en-IN" dirty="0">
                <a:highlight>
                  <a:srgbClr val="FFFF00"/>
                </a:highlight>
              </a:rPr>
              <a:t>&lt;meta http-</a:t>
            </a:r>
            <a:r>
              <a:rPr lang="en-IN" dirty="0" err="1">
                <a:highlight>
                  <a:srgbClr val="FFFF00"/>
                </a:highlight>
              </a:rPr>
              <a:t>equiv</a:t>
            </a:r>
            <a:r>
              <a:rPr lang="en-IN" dirty="0">
                <a:highlight>
                  <a:srgbClr val="FFFF00"/>
                </a:highlight>
              </a:rPr>
              <a:t>="Content-Type"</a:t>
            </a:r>
          </a:p>
          <a:p>
            <a:r>
              <a:rPr lang="en-IN" dirty="0">
                <a:highlight>
                  <a:srgbClr val="FFFF00"/>
                </a:highlight>
              </a:rPr>
              <a:t>          content="text/html; charset=UTF-8"&gt;</a:t>
            </a:r>
          </a:p>
          <a:p>
            <a:endParaRPr lang="en-IN" dirty="0">
              <a:highlight>
                <a:srgbClr val="FFFF00"/>
              </a:highlight>
            </a:endParaRPr>
          </a:p>
          <a:p>
            <a:r>
              <a:rPr lang="en-IN" dirty="0">
                <a:highlight>
                  <a:srgbClr val="FFFF00"/>
                </a:highlight>
              </a:rPr>
              <a:t>&lt;meta http-</a:t>
            </a:r>
            <a:r>
              <a:rPr lang="en-IN" dirty="0" err="1">
                <a:highlight>
                  <a:srgbClr val="FFFF00"/>
                </a:highlight>
              </a:rPr>
              <a:t>equiv</a:t>
            </a:r>
            <a:r>
              <a:rPr lang="en-IN" dirty="0">
                <a:highlight>
                  <a:srgbClr val="FFFF00"/>
                </a:highlight>
              </a:rPr>
              <a:t>="expires"</a:t>
            </a:r>
          </a:p>
          <a:p>
            <a:r>
              <a:rPr lang="en-IN" dirty="0">
                <a:highlight>
                  <a:srgbClr val="FFFF00"/>
                </a:highlight>
              </a:rPr>
              <a:t>          content="Wed, 01 Aug 2026 00:00:00 GMT"&gt;</a:t>
            </a:r>
          </a:p>
          <a:p>
            <a:endParaRPr lang="en-IN" dirty="0"/>
          </a:p>
          <a:p>
            <a:r>
              <a:rPr lang="en-IN" dirty="0"/>
              <a:t>&lt;/head&gt;</a:t>
            </a:r>
          </a:p>
          <a:p>
            <a:endParaRPr lang="en-IN" dirty="0"/>
          </a:p>
          <a:p>
            <a:r>
              <a:rPr lang="en-IN" dirty="0"/>
              <a:t>&lt;body&gt;</a:t>
            </a:r>
          </a:p>
          <a:p>
            <a:endParaRPr lang="en-IN" dirty="0"/>
          </a:p>
          <a:p>
            <a:r>
              <a:rPr lang="en-IN" dirty="0"/>
              <a:t>    &lt;h1&gt;Meta Tag Demo&lt;/h1&gt;</a:t>
            </a:r>
          </a:p>
          <a:p>
            <a:endParaRPr lang="en-IN" dirty="0"/>
          </a:p>
          <a:p>
            <a:r>
              <a:rPr lang="en-IN" dirty="0"/>
              <a:t>&lt;/body&gt;</a:t>
            </a:r>
          </a:p>
          <a:p>
            <a:endParaRPr lang="en-IN" dirty="0"/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1865795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Custom 1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149</TotalTime>
  <Words>612</Words>
  <Application>Microsoft Office PowerPoint</Application>
  <PresentationFormat>Widescreen</PresentationFormat>
  <Paragraphs>136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-apple-system-body</vt:lpstr>
      <vt:lpstr>Arial</vt:lpstr>
      <vt:lpstr>Consolas</vt:lpstr>
      <vt:lpstr>Courier New</vt:lpstr>
      <vt:lpstr>Segoe UI</vt:lpstr>
      <vt:lpstr>Times New Roman</vt:lpstr>
      <vt:lpstr>ui-monospace</vt:lpstr>
      <vt:lpstr>Office Theme</vt:lpstr>
      <vt:lpstr> Meta Tag Understanding &lt;meta&gt; Tag and Its Attributes </vt:lpstr>
      <vt:lpstr>           What is a Meta Tag?</vt:lpstr>
      <vt:lpstr>Attributes of Meta Tag</vt:lpstr>
      <vt:lpstr>name </vt:lpstr>
      <vt:lpstr>content</vt:lpstr>
      <vt:lpstr>charset</vt:lpstr>
      <vt:lpstr>http-equiv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Kishore Kawle</dc:creator>
  <cp:lastModifiedBy>Kishore Kawle</cp:lastModifiedBy>
  <cp:revision>1</cp:revision>
  <dcterms:created xsi:type="dcterms:W3CDTF">2026-07-25T03:01:54Z</dcterms:created>
  <dcterms:modified xsi:type="dcterms:W3CDTF">2026-07-25T05:30:56Z</dcterms:modified>
</cp:coreProperties>
</file>